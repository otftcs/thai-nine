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Module 1 — First Contact and Courtesy  ·  Level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5A4E46"/>
                </a:solidFill>
                <a:latin typeface="Inter"/>
              </a:rPr>
              <a:t>M01-L002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2C2420"/>
                </a:solidFill>
                <a:latin typeface="Inter"/>
              </a:rPr>
              <a:t>Names and Countries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What you will learn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Ask someone's name with คุณชื่ออะไร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Say your own name with ฉันชื่อ... or ผมชื่อ...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1460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State where you are from with มาจาก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Build a short self-introduction from greeting to country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Ask and answer the name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943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371600"/>
            <a:ext cx="73152" cy="109728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28016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2C2420"/>
                </a:solidFill>
                <a:latin typeface="Noto Sans Thai"/>
              </a:rPr>
              <a:t>ชื่อ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chûue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This is the core word in every name question and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The name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Learn the question and answer as a pair that belongs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371600"/>
            <a:ext cx="73152" cy="100584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คุณชื่ออะไร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khun chûue à-rai  —  what is your name?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65836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017520"/>
            <a:ext cx="73152" cy="82296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803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7A72"/>
                </a:solidFill>
                <a:latin typeface="Inter"/>
              </a:rPr>
              <a:t>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54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ฉันชื่อ...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chǎn chûue...  —  my name is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65836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389120"/>
            <a:ext cx="73152" cy="8229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519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A0522D"/>
                </a:solidFill>
                <a:latin typeface="Inter"/>
              </a:rPr>
              <a:t>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ผมชื่อ...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phǒm chûue...  —  my name is ... (male)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Use ฉัน and ผม naturally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Choose one pronoun confidently — the line pattern stays the same.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108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73152" cy="192024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32588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3B7A72"/>
          </a:solidFill>
          <a:ln w="12700">
            <a:solidFill>
              <a:srgbClr val="3B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441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Common / all-purpose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2C2420"/>
                </a:solidFill>
                <a:latin typeface="Noto Sans Thai"/>
              </a:rPr>
              <a:t>ฉัน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chǎn  — 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2C2420"/>
                </a:solidFill>
                <a:latin typeface="Noto Sans Thai"/>
              </a:rPr>
              <a:t>ฉันชื่อ...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8A7E76"/>
                </a:solidFill>
                <a:latin typeface="Inter"/>
              </a:rPr>
              <a:t>chǎn chûue...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188720"/>
            <a:ext cx="3108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371600"/>
            <a:ext cx="73152" cy="192024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325880"/>
            <a:ext cx="1828800" cy="292608"/>
          </a:xfrm>
          <a:prstGeom prst="roundRect">
            <a:avLst>
              <a:gd name="adj" fmla="val 5000"/>
            </a:avLst>
          </a:prstGeom>
          <a:solidFill>
            <a:srgbClr val="A0522D"/>
          </a:solidFill>
          <a:ln w="12700">
            <a:solidFill>
              <a:srgbClr val="A0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3441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Male speaker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7373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2C2420"/>
                </a:solidFill>
                <a:latin typeface="Noto Sans Thai"/>
              </a:rPr>
              <a:t>ผม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phǒm  —  I (male)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51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2C2420"/>
                </a:solidFill>
                <a:latin typeface="Noto Sans Thai"/>
              </a:rPr>
              <a:t>ผมชื่อ...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6324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8A7E76"/>
                </a:solidFill>
                <a:latin typeface="Inter"/>
              </a:rPr>
              <a:t>phǒm chûue...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Addressing someone:  คุณ  khun  — 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Say where you are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6583680" cy="137160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D4B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097280"/>
            <a:ext cx="73152" cy="100584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960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ฉัน/ผม  มาจาก  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chǎn/phǒm  maa-jàak  ___  —  I am from 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97480"/>
            <a:ext cx="73152" cy="731520"/>
          </a:xfrm>
          <a:prstGeom prst="rect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060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ไทย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63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thai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Thailand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840480"/>
            <a:ext cx="73152" cy="7315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490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อังกฤษ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06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ang-grìt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86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England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65836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983480"/>
            <a:ext cx="73152" cy="73152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2C2420"/>
                </a:solidFill>
                <a:latin typeface="Noto Sans Thai"/>
              </a:rPr>
              <a:t>อเมริกา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49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5A4E46"/>
                </a:solidFill>
                <a:latin typeface="Inter"/>
              </a:rPr>
              <a:t>à-mee-rí-gaa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029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2C2420"/>
                </a:solidFill>
                <a:latin typeface="Inter"/>
              </a:rPr>
              <a:t>America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Country substitution drill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Keep the frame, swap only the country: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583680" cy="118872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9844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344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ฉันมาจากไทย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chǎn maa-jàak thai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659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I am from Thailand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87168"/>
            <a:ext cx="65836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96896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A0522D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32888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ผมมาจากอังกฤษ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900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phǒm maa-jàak ang-grìt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6440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I am from England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85616"/>
            <a:ext cx="6583680" cy="1188720"/>
          </a:xfrm>
          <a:prstGeom prst="roundRect">
            <a:avLst>
              <a:gd name="adj" fmla="val 5000"/>
            </a:avLst>
          </a:prstGeom>
          <a:solidFill>
            <a:srgbClr val="FDF5E6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95344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B8963E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31336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ฉันมาจากอเมริกา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885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A4E46"/>
                </a:solidFill>
                <a:latin typeface="Inter"/>
              </a:rPr>
              <a:t>chǎn maa-jàak à-mee-rí-gaa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6285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8A7E76"/>
                </a:solidFill>
                <a:latin typeface="Inter"/>
              </a:rPr>
              <a:t>I am from America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914400" cy="292608"/>
          </a:xfrm>
          <a:prstGeom prst="roundRect">
            <a:avLst>
              <a:gd name="adj" fmla="val 30000"/>
            </a:avLst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01168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Build a full self-introduction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5A4E46"/>
                </a:solidFill>
                <a:latin typeface="Inter"/>
              </a:rPr>
              <a:t>Connect greeting + name + country into one smooth sequence: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5836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344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Greet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630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สวัสดีครับ/ค่ะ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470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sà-wàt-dii khráp/khâ  —  hello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65836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774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3B7A72"/>
                </a:solidFill>
                <a:latin typeface="Inter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060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ฉันชื่อ...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900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chǎn chûue...  —  my name is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65836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204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A0522D"/>
                </a:solidFill>
                <a:latin typeface="Inter"/>
              </a:rPr>
              <a:t>Country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490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ฉันมาจาก...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330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chǎn maa-jàak...  —  I am from 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65836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846320"/>
            <a:ext cx="457200" cy="457200"/>
          </a:xfrm>
          <a:prstGeom prst="ellipse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634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920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ขอบคุณครับ/ค่ะ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76088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khàawp-khun khráp/khâ  —  thank you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Roleplay: Meeting someone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5A4E46"/>
                </a:solidFill>
                <a:latin typeface="Inter"/>
              </a:rPr>
              <a:t>At a class or event — practise the full 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0515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สวัสดีค่ะ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447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sà-wàt-dii khâ  —  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2024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สวัสดีครับ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1343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sà-wàt-dii khráp  —  Hello.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8892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คุณชื่ออะไรคะ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8211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khun chûue à-rai khá  —  What is your name?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6576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ผมชื่อแดนครับ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5079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phǒm chûue Daen khráp  —  My name is Dan.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3B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2628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คุณมาจากไหนคะ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1947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khun maa-jàak nǎi khá  —  Where are you from?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40680"/>
            <a:ext cx="1097280" cy="292608"/>
          </a:xfrm>
          <a:prstGeom prst="roundRect">
            <a:avLst>
              <a:gd name="adj" fmla="val 30000"/>
            </a:avLst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949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2C2420"/>
                </a:solidFill>
                <a:latin typeface="Noto Sans Thai"/>
              </a:rPr>
              <a:t>ผมมาจากอังกฤษครับ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78815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5A4E46"/>
                </a:solidFill>
                <a:latin typeface="Inter"/>
              </a:rPr>
              <a:t>phǒm maa-jàak ang-grìt khráp  —  I am from England.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508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2C2420"/>
                </a:solidFill>
                <a:latin typeface="Inter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Learn คุณชื่ออะไร and its answer as one fixed beginner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Choose one stable self-pronoun: ฉัน or ผม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Use มาจาก to say where you are from — keep the country slot flexible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B7A72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2C2420"/>
                </a:solidFill>
                <a:latin typeface="Inter"/>
              </a:rPr>
              <a:t>Carry over สวัสดี and ขอบคุณ so the introduction sounds social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F0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8963E"/>
                </a:solidFill>
                <a:latin typeface="Inter"/>
              </a:rPr>
              <a:t>M01-L002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2C2420"/>
                </a:solidFill>
                <a:latin typeface="Inter"/>
              </a:rPr>
              <a:t>You can now introduce yourself
with name and country.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Hello, my name is..., I am from... — a complete first contact.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5A4E46"/>
                </a:solidFill>
                <a:latin typeface="Inter"/>
              </a:rPr>
              <a:t>Next lesson: pronouns and who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8A7E76"/>
                </a:solidFill>
                <a:latin typeface="Inter"/>
              </a:rPr>
              <a:t>Immersion Thai with Nine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828800" cy="38100"/>
          </a:xfrm>
          <a:prstGeom prst="rect">
            <a:avLst/>
          </a:prstGeom>
          <a:solidFill>
            <a:srgbClr val="B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