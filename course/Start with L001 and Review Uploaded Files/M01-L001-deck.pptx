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Module 1 — First Contact and Courtesy  ·  Level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5A4E46"/>
                </a:solidFill>
                <a:latin typeface="Inter"/>
              </a:rPr>
              <a:t>M01-L001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2C2420"/>
                </a:solidFill>
                <a:latin typeface="Inter"/>
              </a:rPr>
              <a:t>Hello and Basic Courtesy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Immersion Thai with Nine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What you will learn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Say hello politely with a correct polite ending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ขอบคุณ and ขอโทษ in the right social moments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1460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Distinguish ครับ, ค่ะ, and คะ at a practical level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Answer with ใช่ or ไม่ใช่ and soften with ไม่เป็นไร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4904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Deliver a short first-contact exchange with politeness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Say hello the Thai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943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45920"/>
            <a:ext cx="73152" cy="109728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2C2420"/>
                </a:solidFill>
                <a:latin typeface="Noto Sans Thai"/>
              </a:rPr>
              <a:t>สวัสดี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sà-wàt-dii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hello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This is your safe, polite greeting for a first meeting.
But real Thai sounds warmer when a polite ending is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The greeting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Learn the greeting as a full social line, not just the base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554480"/>
            <a:ext cx="73152" cy="86868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สวัสดี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sà-wàt-dii  —  hello — base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926080"/>
            <a:ext cx="73152" cy="86868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346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สวัสดีครับ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sà-wàt-dii khráp  —  hello — male speaker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4297680"/>
            <a:ext cx="73152" cy="8686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สวัสดีค่ะ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sà-wàt-dii khâ  —  hello — female speaker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Thank, apologise, and soften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108960" cy="411480"/>
          </a:xfrm>
          <a:prstGeom prst="roundRect">
            <a:avLst>
              <a:gd name="adj" fmla="val 5000"/>
            </a:avLst>
          </a:prstGeom>
          <a:solidFill>
            <a:srgbClr val="3B7A72"/>
          </a:solidFill>
          <a:ln w="12700">
            <a:solidFill>
              <a:srgbClr val="3B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07008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Close warmly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108960" cy="411480"/>
          </a:xfrm>
          <a:prstGeom prst="roundRect">
            <a:avLst>
              <a:gd name="adj" fmla="val 5000"/>
            </a:avLst>
          </a:prstGeom>
          <a:solidFill>
            <a:srgbClr val="A0522D"/>
          </a:solidFill>
          <a:ln w="12700">
            <a:solidFill>
              <a:srgbClr val="A0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207008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Interrupt or repair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965960"/>
            <a:ext cx="73152" cy="109728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874519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ขอบคุณ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7744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khàawp-khun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9748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thank you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7830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965960"/>
            <a:ext cx="73152" cy="10972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19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ขอโทษ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khǎaw-thôot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9748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excuse me / sorry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20440"/>
            <a:ext cx="6492240" cy="12700"/>
          </a:xfrm>
          <a:prstGeom prst="rect">
            <a:avLst/>
          </a:prstGeom>
          <a:solidFill>
            <a:srgbClr val="D8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8A7E76"/>
                </a:solidFill>
                <a:latin typeface="Inter"/>
              </a:rPr>
              <a:t>Natural reply to both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114800"/>
            <a:ext cx="4663440" cy="137160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D4B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83080" y="4297680"/>
            <a:ext cx="73152" cy="100584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206240"/>
            <a:ext cx="4023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ไม่เป็นไร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70916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mâi bpen rai  —  it is okay / no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02920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8A7E76"/>
                </a:solidFill>
                <a:latin typeface="Inter"/>
              </a:rPr>
              <a:t>Smooths the moment after thanks or a small apology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How these phrases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Each phrase has a social job in the interaction: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583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73152" cy="86868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ขอบคุณ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khàawp-khun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Closes a moment warmly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After help, service, or a small kindness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6583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291840"/>
            <a:ext cx="73152" cy="8686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004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ขอโทษ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11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khǎaw-thôot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Opens a 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6576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To interrupt gently or apologise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6583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663440"/>
            <a:ext cx="73152" cy="86868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720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ไม่เป็นไร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83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mâi bpen rai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6177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Smooths everything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292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Answers a thank-you or small apology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Pick the right polite 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Thai polite endings do real work — they shape the tone of the whole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Thai"/>
              </a:rPr>
              <a:t>ครับ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khráp  —  male polite 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116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Use for statements and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97180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Thai"/>
              </a:rPr>
              <a:t>ค่ะ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80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khâ  —  female statement 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246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Use for statements and answers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20624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Thai"/>
              </a:rPr>
              <a:t>คะ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114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khá  —  female question 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Use when asking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A0522D"/>
                </a:solidFill>
                <a:latin typeface="Inter"/>
              </a:rPr>
              <a:t>Beginner rule: learn ครับ and ค่ะ first for safe polite statements.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Substitution drill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Say each line with the correct polite ending: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F0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27632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สวัสดี___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sà-wàt-dii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A0522D"/>
                </a:solidFill>
                <a:latin typeface="Inter"/>
              </a:rPr>
              <a:t>Add ครับ or ค่ะ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42032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78024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ขอบคุณ___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620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khàawp-khun 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877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A0522D"/>
                </a:solidFill>
                <a:latin typeface="Inter"/>
              </a:rPr>
              <a:t>Add ครับ or ค่ะ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55264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F0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28416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ขอโทษ___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1246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khǎaw-thôot 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43814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A0522D"/>
                </a:solidFill>
                <a:latin typeface="Inter"/>
              </a:rPr>
              <a:t>Add ครับ or ค่ะ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42816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78808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ใช่___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6285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châi 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28853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A0522D"/>
                </a:solidFill>
                <a:latin typeface="Inter"/>
              </a:rPr>
              <a:t>Add ครับ or ค่ะ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56048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F0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292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ไม่เป็นไร___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132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mâi bpen rai ___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13892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A0522D"/>
                </a:solidFill>
                <a:latin typeface="Inter"/>
              </a:rPr>
              <a:t>Add ครับ or ค่ะ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Answer yes, no, and no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Three response tools — two answer the idea, one softens the moment.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3B7A72"/>
          </a:solidFill>
          <a:ln w="12700">
            <a:solidFill>
              <a:srgbClr val="3B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Direct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73152" cy="82296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ใช่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146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châi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488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yes / that is 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Confirms the idea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383280"/>
            <a:ext cx="73152" cy="82296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918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ไม่ใช่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490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mâi châi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no / not right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490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Corrects the idea — not aggressive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B8963E"/>
          </a:solidFill>
          <a:ln w="12700">
            <a:solidFill>
              <a:srgbClr val="B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817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Social softener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D4B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257800"/>
            <a:ext cx="73152" cy="82296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663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ไม่เป็นไร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6235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mâi bpen rai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57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it is okay / no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623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A0522D"/>
                </a:solidFill>
                <a:latin typeface="Inter"/>
              </a:rPr>
              <a:t>Softens the situation — not a yes/no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Roleplay: First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5A4E46"/>
                </a:solidFill>
                <a:latin typeface="Inter"/>
              </a:rPr>
              <a:t>At a reception desk — practise the full exchange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Learner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1732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ขอโทษครับ สวัสดีครับ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1051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khǎaw-thôot khráp sà-wàt-dii khráp  —  Excuse me, hello.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Staff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8600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สวัสดีค่ะ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7919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sà-wàt-dii khâ  —  Hello.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Learner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5468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ที่นี่ใช่ไหมครับ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4787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thîi-nîi châi mái khráp  —  Is this the right place?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233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ใช่ค่ะ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41655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châi khâ  —  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Learner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9204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ขอบคุณครับ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28523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khàawp-khun khráp  —  Thank you.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0644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Staff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76072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ไม่เป็นไรค่ะ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615391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mâi bpen rai khâ  —  No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Start with สวัสดี and always add a polite 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ขอบคุณ to close warmly and ขอโทษ to repair politely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Learn polite endings as social meaning, not decoration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ใช่ and ไม่ใช่ for answers, ไม่เป็นไร to calm the 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Practise the full exchange — greeting to thank-you to no-problem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M01-L001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2C2420"/>
                </a:solidFill>
                <a:latin typeface="Inter"/>
              </a:rPr>
              <a:t>You can now greet, thank,
apologise, and respond politely.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You have the smallest courtesy toolkit that already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Next lesson: names and countries — introducing yourself.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Immersion Thai with Nine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