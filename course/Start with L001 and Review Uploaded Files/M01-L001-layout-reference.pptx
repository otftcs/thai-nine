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1675"/>
  <p:notesSz cx="6858000" cy="9144000"/>
  <p:embeddedFontLst>
    <p:embeddedFont>
      <p:font typeface="Inter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g0msNXk0Zupp+/woznNFW+iMvr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Inter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Inter-bold.fntdata"/><Relationship Id="rId6" Type="http://schemas.openxmlformats.org/officeDocument/2006/relationships/slide" Target="slides/slide1.xml"/><Relationship Id="rId18" Type="http://schemas.openxmlformats.org/officeDocument/2006/relationships/font" Target="fonts/Int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6F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0"/>
            <a:ext cx="8128101" cy="76200"/>
          </a:xfrm>
          <a:prstGeom prst="rect">
            <a:avLst/>
          </a:prstGeom>
          <a:solidFill>
            <a:srgbClr val="B896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31520" y="164592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B8963E"/>
                </a:solidFill>
                <a:latin typeface="Inter"/>
                <a:ea typeface="Inter"/>
                <a:cs typeface="Inter"/>
                <a:sym typeface="Inter"/>
              </a:rPr>
              <a:t>Module 1 — First Contact and Courtesy  ·  Level A0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731520" y="210312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A4E46"/>
                </a:solidFill>
                <a:latin typeface="Inter"/>
                <a:ea typeface="Inter"/>
                <a:cs typeface="Inter"/>
                <a:sym typeface="Inter"/>
              </a:rPr>
              <a:t>M01-L001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731520" y="2651760"/>
            <a:ext cx="685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2C2420"/>
                </a:solidFill>
                <a:latin typeface="Inter"/>
                <a:ea typeface="Inter"/>
                <a:cs typeface="Inter"/>
                <a:sym typeface="Inter"/>
              </a:rPr>
              <a:t>Hello and Basic Courtesy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731520" y="530352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A7E76"/>
                </a:solidFill>
                <a:latin typeface="Inter"/>
                <a:ea typeface="Inter"/>
                <a:cs typeface="Inter"/>
                <a:sym typeface="Inter"/>
              </a:rPr>
              <a:t>Immersion Thai with Nine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731520" y="5760720"/>
            <a:ext cx="1828800" cy="38100"/>
          </a:xfrm>
          <a:prstGeom prst="rect">
            <a:avLst/>
          </a:prstGeom>
          <a:solidFill>
            <a:srgbClr val="B896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6F0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0" y="0"/>
            <a:ext cx="8128101" cy="50800"/>
          </a:xfrm>
          <a:prstGeom prst="rect">
            <a:avLst/>
          </a:prstGeom>
          <a:solidFill>
            <a:srgbClr val="B896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731520" y="1061443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C2420"/>
                </a:solidFill>
                <a:latin typeface="Inter"/>
                <a:ea typeface="Inter"/>
                <a:cs typeface="Inter"/>
                <a:sym typeface="Inter"/>
              </a:rPr>
              <a:t>What you will learn</a:t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731495" y="1941815"/>
            <a:ext cx="365700" cy="365700"/>
          </a:xfrm>
          <a:prstGeom prst="ellipse">
            <a:avLst/>
          </a:prstGeom>
          <a:solidFill>
            <a:srgbClr val="B896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1280047" y="1964720"/>
            <a:ext cx="621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C2420"/>
                </a:solidFill>
                <a:latin typeface="Inter"/>
                <a:ea typeface="Inter"/>
                <a:cs typeface="Inter"/>
                <a:sym typeface="Inter"/>
              </a:rPr>
              <a:t>Say hello politely with a correct polite ending</a:t>
            </a:r>
            <a:endParaRPr/>
          </a:p>
        </p:txBody>
      </p:sp>
      <p:sp>
        <p:nvSpPr>
          <p:cNvPr id="100" name="Google Shape;100;p2"/>
          <p:cNvSpPr/>
          <p:nvPr/>
        </p:nvSpPr>
        <p:spPr>
          <a:xfrm>
            <a:off x="731470" y="2649220"/>
            <a:ext cx="365700" cy="365700"/>
          </a:xfrm>
          <a:prstGeom prst="ellipse">
            <a:avLst/>
          </a:prstGeom>
          <a:solidFill>
            <a:srgbClr val="B896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1280047" y="2649225"/>
            <a:ext cx="621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C2420"/>
                </a:solidFill>
                <a:latin typeface="Inter"/>
                <a:ea typeface="Inter"/>
                <a:cs typeface="Inter"/>
                <a:sym typeface="Inter"/>
              </a:rPr>
              <a:t>Use ขอบคุณ and ขอโทษ in the right social moments</a:t>
            </a: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731470" y="3356613"/>
            <a:ext cx="365700" cy="365700"/>
          </a:xfrm>
          <a:prstGeom prst="ellipse">
            <a:avLst/>
          </a:prstGeom>
          <a:solidFill>
            <a:srgbClr val="B896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1280047" y="3333730"/>
            <a:ext cx="621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C2420"/>
                </a:solidFill>
                <a:latin typeface="Inter"/>
                <a:ea typeface="Inter"/>
                <a:cs typeface="Inter"/>
                <a:sym typeface="Inter"/>
              </a:rPr>
              <a:t>Distinguish ครับ, ค่ะ, and คะ at a practical level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731495" y="4064005"/>
            <a:ext cx="365700" cy="365700"/>
          </a:xfrm>
          <a:prstGeom prst="ellipse">
            <a:avLst/>
          </a:prstGeom>
          <a:solidFill>
            <a:srgbClr val="B896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1280160" y="4018260"/>
            <a:ext cx="621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C2420"/>
                </a:solidFill>
                <a:latin typeface="Inter"/>
                <a:ea typeface="Inter"/>
                <a:cs typeface="Inter"/>
                <a:sym typeface="Inter"/>
              </a:rPr>
              <a:t>Answer with ใช่ or ไม่ใช่ and soften with ไม่เป็นไร</a:t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731520" y="4736585"/>
            <a:ext cx="365700" cy="365700"/>
          </a:xfrm>
          <a:prstGeom prst="ellipse">
            <a:avLst/>
          </a:prstGeom>
          <a:solidFill>
            <a:srgbClr val="B896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1280160" y="4690815"/>
            <a:ext cx="621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C2420"/>
                </a:solidFill>
                <a:latin typeface="Inter"/>
                <a:ea typeface="Inter"/>
                <a:cs typeface="Inter"/>
                <a:sym typeface="Inter"/>
              </a:rPr>
              <a:t>Deliver a short first-contact exchange with politeness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6F0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0" y="0"/>
            <a:ext cx="8128101" cy="50800"/>
          </a:xfrm>
          <a:prstGeom prst="rect">
            <a:avLst/>
          </a:prstGeom>
          <a:solidFill>
            <a:srgbClr val="B896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731527" y="1719200"/>
            <a:ext cx="1210500" cy="320100"/>
          </a:xfrm>
          <a:prstGeom prst="roundRect">
            <a:avLst>
              <a:gd fmla="val 30000" name="adj"/>
            </a:avLst>
          </a:prstGeom>
          <a:solidFill>
            <a:srgbClr val="B896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Section 1</a:t>
            </a:r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2063268" y="1582106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C2420"/>
                </a:solidFill>
                <a:latin typeface="Inter"/>
                <a:ea typeface="Inter"/>
                <a:cs typeface="Inter"/>
                <a:sym typeface="Inter"/>
              </a:rPr>
              <a:t>Say hello the Thai way</a:t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731520" y="2267875"/>
            <a:ext cx="5943600" cy="16458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E0D8C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895855" y="2542133"/>
            <a:ext cx="73200" cy="1097400"/>
          </a:xfrm>
          <a:prstGeom prst="rect">
            <a:avLst/>
          </a:prstGeom>
          <a:solidFill>
            <a:srgbClr val="B896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1142988" y="2332605"/>
            <a:ext cx="5303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C2420"/>
                </a:solidFill>
                <a:latin typeface="Calibri"/>
                <a:ea typeface="Calibri"/>
                <a:cs typeface="Calibri"/>
                <a:sym typeface="Calibri"/>
              </a:rPr>
              <a:t>สวัสดี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1142988" y="3008965"/>
            <a:ext cx="5303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5A4E46"/>
                </a:solidFill>
                <a:latin typeface="Inter"/>
                <a:ea typeface="Inter"/>
                <a:cs typeface="Inter"/>
                <a:sym typeface="Inter"/>
              </a:rPr>
              <a:t>sà-wàt-dii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1143000" y="3374675"/>
            <a:ext cx="5303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8A7E76"/>
                </a:solidFill>
                <a:latin typeface="Inter"/>
                <a:ea typeface="Inter"/>
                <a:cs typeface="Inter"/>
                <a:sym typeface="Inter"/>
              </a:rPr>
              <a:t>hello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731520" y="4142240"/>
            <a:ext cx="685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A4E46"/>
                </a:solidFill>
                <a:latin typeface="Inter"/>
                <a:ea typeface="Inter"/>
                <a:cs typeface="Inter"/>
                <a:sym typeface="Inter"/>
              </a:rPr>
              <a:t>This is your safe, polite greeting for a first meeting.</a:t>
            </a:r>
            <a:br>
              <a:rPr b="0" i="0" lang="en-US" sz="1800" u="none" cap="none" strike="noStrike">
                <a:solidFill>
                  <a:srgbClr val="5A4E4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1800" u="none" cap="none" strike="noStrike">
                <a:solidFill>
                  <a:srgbClr val="5A4E46"/>
                </a:solidFill>
                <a:latin typeface="Inter"/>
                <a:ea typeface="Inter"/>
                <a:cs typeface="Inter"/>
                <a:sym typeface="Inter"/>
              </a:rPr>
              <a:t>But real Thai sounds warmer when a polite ending is attached.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6F0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0" y="0"/>
            <a:ext cx="8128101" cy="50800"/>
          </a:xfrm>
          <a:prstGeom prst="rect">
            <a:avLst/>
          </a:prstGeom>
          <a:solidFill>
            <a:srgbClr val="B896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2063268" y="552443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C2420"/>
                </a:solidFill>
                <a:latin typeface="Inter"/>
                <a:ea typeface="Inter"/>
                <a:cs typeface="Inter"/>
                <a:sym typeface="Inter"/>
              </a:rPr>
              <a:t>The greeting stack</a:t>
            </a:r>
            <a:endParaRPr/>
          </a:p>
        </p:txBody>
      </p:sp>
      <p:sp>
        <p:nvSpPr>
          <p:cNvPr id="129" name="Google Shape;129;p4"/>
          <p:cNvSpPr txBox="1"/>
          <p:nvPr/>
        </p:nvSpPr>
        <p:spPr>
          <a:xfrm>
            <a:off x="731520" y="1051560"/>
            <a:ext cx="6858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A4E46"/>
                </a:solidFill>
                <a:latin typeface="Inter"/>
                <a:ea typeface="Inter"/>
                <a:cs typeface="Inter"/>
                <a:sym typeface="Inter"/>
              </a:rPr>
              <a:t>Learn the greeting as a full social line, not just the base word.</a:t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731520" y="1511300"/>
            <a:ext cx="6400800" cy="12345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E0D8C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841248" y="1728130"/>
            <a:ext cx="73200" cy="868800"/>
          </a:xfrm>
          <a:prstGeom prst="rect">
            <a:avLst/>
          </a:prstGeom>
          <a:solidFill>
            <a:srgbClr val="B896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1097280" y="1659140"/>
            <a:ext cx="5029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C2420"/>
                </a:solidFill>
              </a:rPr>
              <a:t>สวัสดี</a:t>
            </a:r>
            <a:endParaRPr/>
          </a:p>
        </p:txBody>
      </p:sp>
      <p:sp>
        <p:nvSpPr>
          <p:cNvPr id="133" name="Google Shape;133;p4"/>
          <p:cNvSpPr txBox="1"/>
          <p:nvPr/>
        </p:nvSpPr>
        <p:spPr>
          <a:xfrm>
            <a:off x="1097280" y="2197343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A4E46"/>
                </a:solidFill>
                <a:latin typeface="Inter"/>
                <a:ea typeface="Inter"/>
                <a:cs typeface="Inter"/>
                <a:sym typeface="Inter"/>
              </a:rPr>
              <a:t>sà-wàt-dii  —  hello — base form</a:t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731520" y="2907788"/>
            <a:ext cx="6400800" cy="12345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E0D8C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841248" y="3087443"/>
            <a:ext cx="73200" cy="868800"/>
          </a:xfrm>
          <a:prstGeom prst="rect">
            <a:avLst/>
          </a:prstGeom>
          <a:solidFill>
            <a:srgbClr val="3B7A7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1097280" y="3063303"/>
            <a:ext cx="5029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C2420"/>
                </a:solidFill>
              </a:rPr>
              <a:t>สวัสดีครับ</a:t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1097280" y="3589043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A4E46"/>
                </a:solidFill>
                <a:latin typeface="Inter"/>
                <a:ea typeface="Inter"/>
                <a:cs typeface="Inter"/>
                <a:sym typeface="Inter"/>
              </a:rPr>
              <a:t>sà-wàt-dii khráp  —  hello — male speaker</a:t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731520" y="4297750"/>
            <a:ext cx="6400800" cy="12345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E0D8C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841248" y="4480668"/>
            <a:ext cx="73200" cy="868800"/>
          </a:xfrm>
          <a:prstGeom prst="rect">
            <a:avLst/>
          </a:prstGeom>
          <a:solidFill>
            <a:srgbClr val="A052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1165180" y="4477940"/>
            <a:ext cx="5029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C2420"/>
                </a:solidFill>
              </a:rPr>
              <a:t>สวัสดีค่ะ</a:t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>
            <a:off x="1165180" y="4980755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A4E46"/>
                </a:solidFill>
                <a:latin typeface="Inter"/>
                <a:ea typeface="Inter"/>
                <a:cs typeface="Inter"/>
                <a:sym typeface="Inter"/>
              </a:rPr>
              <a:t>sà-wàt-dii khâ  —  hello — female speaker</a:t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731527" y="694913"/>
            <a:ext cx="1210500" cy="320100"/>
          </a:xfrm>
          <a:prstGeom prst="roundRect">
            <a:avLst>
              <a:gd fmla="val 30000" name="adj"/>
            </a:avLst>
          </a:prstGeom>
          <a:solidFill>
            <a:srgbClr val="B8963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Section 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6F0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0" y="0"/>
            <a:ext cx="8128101" cy="50800"/>
          </a:xfrm>
          <a:prstGeom prst="rect">
            <a:avLst/>
          </a:prstGeom>
          <a:solidFill>
            <a:srgbClr val="B896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1942043" y="870018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C2420"/>
                </a:solidFill>
                <a:latin typeface="Inter"/>
                <a:ea typeface="Inter"/>
                <a:cs typeface="Inter"/>
                <a:sym typeface="Inter"/>
              </a:rPr>
              <a:t>Thank, apologise, and soften</a:t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731495" y="1572645"/>
            <a:ext cx="3108900" cy="411600"/>
          </a:xfrm>
          <a:prstGeom prst="roundRect">
            <a:avLst>
              <a:gd fmla="val 5000" name="adj"/>
            </a:avLst>
          </a:prstGeom>
          <a:solidFill>
            <a:srgbClr val="3B7A72"/>
          </a:solidFill>
          <a:ln cap="flat" cmpd="sng" w="12700">
            <a:solidFill>
              <a:srgbClr val="3B7A7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731520" y="1618433"/>
            <a:ext cx="3108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Close warmly</a:t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4114775" y="1547395"/>
            <a:ext cx="3108900" cy="411600"/>
          </a:xfrm>
          <a:prstGeom prst="roundRect">
            <a:avLst>
              <a:gd fmla="val 5000" name="adj"/>
            </a:avLst>
          </a:prstGeom>
          <a:solidFill>
            <a:srgbClr val="A0522D"/>
          </a:solidFill>
          <a:ln cap="flat" cmpd="sng" w="12700">
            <a:solidFill>
              <a:srgbClr val="A0522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4114800" y="1593171"/>
            <a:ext cx="3108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Interrupt or repair</a:t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731520" y="2146430"/>
            <a:ext cx="3108900" cy="14631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E0D8C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850110" y="2329335"/>
            <a:ext cx="73200" cy="1097400"/>
          </a:xfrm>
          <a:prstGeom prst="rect">
            <a:avLst/>
          </a:prstGeom>
          <a:solidFill>
            <a:srgbClr val="3B7A7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1051547" y="2178469"/>
            <a:ext cx="2651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C2420"/>
                </a:solidFill>
              </a:rPr>
              <a:t>ขอบคุณ</a:t>
            </a:r>
            <a:endParaRPr/>
          </a:p>
        </p:txBody>
      </p:sp>
      <p:sp>
        <p:nvSpPr>
          <p:cNvPr id="157" name="Google Shape;157;p5"/>
          <p:cNvSpPr txBox="1"/>
          <p:nvPr/>
        </p:nvSpPr>
        <p:spPr>
          <a:xfrm>
            <a:off x="1051597" y="2740853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5A4E46"/>
                </a:solidFill>
                <a:latin typeface="Inter"/>
                <a:ea typeface="Inter"/>
                <a:cs typeface="Inter"/>
                <a:sym typeface="Inter"/>
              </a:rPr>
              <a:t>khàawp-khun</a:t>
            </a:r>
            <a:endParaRPr/>
          </a:p>
        </p:txBody>
      </p:sp>
      <p:sp>
        <p:nvSpPr>
          <p:cNvPr id="158" name="Google Shape;158;p5"/>
          <p:cNvSpPr txBox="1"/>
          <p:nvPr/>
        </p:nvSpPr>
        <p:spPr>
          <a:xfrm>
            <a:off x="1051560" y="3074630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8A7E76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4114800" y="2133805"/>
            <a:ext cx="3108900" cy="14631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E0D8C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4246990" y="2316685"/>
            <a:ext cx="73200" cy="1097400"/>
          </a:xfrm>
          <a:prstGeom prst="rect">
            <a:avLst/>
          </a:prstGeom>
          <a:solidFill>
            <a:srgbClr val="A052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 txBox="1"/>
          <p:nvPr/>
        </p:nvSpPr>
        <p:spPr>
          <a:xfrm>
            <a:off x="4434840" y="2178469"/>
            <a:ext cx="2651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C2420"/>
                </a:solidFill>
              </a:rPr>
              <a:t>ขอโทษ</a:t>
            </a:r>
            <a:endParaRPr/>
          </a:p>
        </p:txBody>
      </p:sp>
      <p:sp>
        <p:nvSpPr>
          <p:cNvPr id="162" name="Google Shape;162;p5"/>
          <p:cNvSpPr txBox="1"/>
          <p:nvPr/>
        </p:nvSpPr>
        <p:spPr>
          <a:xfrm>
            <a:off x="4434840" y="2728165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5A4E46"/>
                </a:solidFill>
                <a:latin typeface="Inter"/>
                <a:ea typeface="Inter"/>
                <a:cs typeface="Inter"/>
                <a:sym typeface="Inter"/>
              </a:rPr>
              <a:t>khǎaw-thôot</a:t>
            </a:r>
            <a:endParaRPr/>
          </a:p>
        </p:txBody>
      </p:sp>
      <p:sp>
        <p:nvSpPr>
          <p:cNvPr id="163" name="Google Shape;163;p5"/>
          <p:cNvSpPr txBox="1"/>
          <p:nvPr/>
        </p:nvSpPr>
        <p:spPr>
          <a:xfrm>
            <a:off x="4434840" y="3074630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8A7E76"/>
                </a:solidFill>
                <a:latin typeface="Inter"/>
                <a:ea typeface="Inter"/>
                <a:cs typeface="Inter"/>
                <a:sym typeface="Inter"/>
              </a:rPr>
              <a:t>excuse me / sorry</a:t>
            </a:r>
            <a:endParaRPr/>
          </a:p>
        </p:txBody>
      </p:sp>
      <p:sp>
        <p:nvSpPr>
          <p:cNvPr id="164" name="Google Shape;164;p5"/>
          <p:cNvSpPr txBox="1"/>
          <p:nvPr/>
        </p:nvSpPr>
        <p:spPr>
          <a:xfrm>
            <a:off x="685795" y="6304170"/>
            <a:ext cx="6400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8A7E76"/>
                </a:solidFill>
                <a:latin typeface="Inter"/>
                <a:ea typeface="Inter"/>
                <a:cs typeface="Inter"/>
                <a:sym typeface="Inter"/>
              </a:rPr>
              <a:t>Natural reply to both →</a:t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1624200" y="4401850"/>
            <a:ext cx="4981200" cy="1683900"/>
          </a:xfrm>
          <a:prstGeom prst="roundRect">
            <a:avLst>
              <a:gd fmla="val 5000" name="adj"/>
            </a:avLst>
          </a:prstGeom>
          <a:solidFill>
            <a:srgbClr val="FDF5E6"/>
          </a:solidFill>
          <a:ln cap="flat" cmpd="sng" w="12700">
            <a:solidFill>
              <a:srgbClr val="D4BE8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1783080" y="4740880"/>
            <a:ext cx="73200" cy="1005900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 txBox="1"/>
          <p:nvPr/>
        </p:nvSpPr>
        <p:spPr>
          <a:xfrm>
            <a:off x="2103120" y="4525340"/>
            <a:ext cx="4023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C2420"/>
                </a:solidFill>
              </a:rPr>
              <a:t>ไม่เป็นไร</a:t>
            </a:r>
            <a:endParaRPr/>
          </a:p>
        </p:txBody>
      </p:sp>
      <p:sp>
        <p:nvSpPr>
          <p:cNvPr id="168" name="Google Shape;168;p5"/>
          <p:cNvSpPr txBox="1"/>
          <p:nvPr/>
        </p:nvSpPr>
        <p:spPr>
          <a:xfrm>
            <a:off x="2133451" y="5072274"/>
            <a:ext cx="4877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A4E46"/>
                </a:solidFill>
                <a:latin typeface="Inter"/>
                <a:ea typeface="Inter"/>
                <a:cs typeface="Inter"/>
                <a:sym typeface="Inter"/>
              </a:rPr>
              <a:t>mâi bpen rai  —  it is okay / no problem</a:t>
            </a:r>
            <a:endParaRPr/>
          </a:p>
        </p:txBody>
      </p:sp>
      <p:sp>
        <p:nvSpPr>
          <p:cNvPr id="169" name="Google Shape;169;p5"/>
          <p:cNvSpPr txBox="1"/>
          <p:nvPr/>
        </p:nvSpPr>
        <p:spPr>
          <a:xfrm>
            <a:off x="2103150" y="5370163"/>
            <a:ext cx="40233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8A7E76"/>
                </a:solidFill>
                <a:latin typeface="Inter"/>
                <a:ea typeface="Inter"/>
                <a:cs typeface="Inter"/>
                <a:sym typeface="Inter"/>
              </a:rPr>
              <a:t>Smooths the moment after thanks or a small apology</a:t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731527" y="954588"/>
            <a:ext cx="1210500" cy="320100"/>
          </a:xfrm>
          <a:prstGeom prst="roundRect">
            <a:avLst>
              <a:gd fmla="val 30000" name="adj"/>
            </a:avLst>
          </a:prstGeom>
          <a:solidFill>
            <a:srgbClr val="B8963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Section </a:t>
            </a:r>
            <a:r>
              <a:rPr b="1" lang="en-US" sz="1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1624200" y="3771833"/>
            <a:ext cx="3108900" cy="411600"/>
          </a:xfrm>
          <a:prstGeom prst="roundRect">
            <a:avLst>
              <a:gd fmla="val 5000" name="adj"/>
            </a:avLst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 txBox="1"/>
          <p:nvPr/>
        </p:nvSpPr>
        <p:spPr>
          <a:xfrm>
            <a:off x="1624195" y="3816533"/>
            <a:ext cx="3108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Natural reply to both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6F0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"/>
          <p:cNvSpPr/>
          <p:nvPr/>
        </p:nvSpPr>
        <p:spPr>
          <a:xfrm>
            <a:off x="8128101" y="0"/>
            <a:ext cx="4063500" cy="6858000"/>
          </a:xfrm>
          <a:prstGeom prst="rect">
            <a:avLst/>
          </a:prstGeom>
          <a:solidFill>
            <a:srgbClr val="F0EBE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0" y="0"/>
            <a:ext cx="8128101" cy="50800"/>
          </a:xfrm>
          <a:prstGeom prst="rect">
            <a:avLst/>
          </a:prstGeom>
          <a:solidFill>
            <a:srgbClr val="B896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 txBox="1"/>
          <p:nvPr/>
        </p:nvSpPr>
        <p:spPr>
          <a:xfrm>
            <a:off x="2000375" y="811779"/>
            <a:ext cx="70575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2C2420"/>
                </a:solidFill>
                <a:latin typeface="Inter"/>
                <a:ea typeface="Inter"/>
                <a:cs typeface="Inter"/>
                <a:sym typeface="Inter"/>
              </a:rPr>
              <a:t>How these phrases </a:t>
            </a:r>
            <a:r>
              <a:rPr b="1" i="0" lang="en-US" sz="2500" u="none" cap="none" strike="noStrike">
                <a:solidFill>
                  <a:srgbClr val="2C2420"/>
                </a:solidFill>
                <a:latin typeface="Inter"/>
                <a:ea typeface="Inter"/>
                <a:cs typeface="Inter"/>
                <a:sym typeface="Inter"/>
              </a:rPr>
              <a:t>work</a:t>
            </a:r>
            <a:r>
              <a:rPr b="1" i="0" lang="en-US" sz="2500" u="none" cap="none" strike="noStrike">
                <a:solidFill>
                  <a:srgbClr val="2C2420"/>
                </a:solidFill>
                <a:latin typeface="Inter"/>
                <a:ea typeface="Inter"/>
                <a:cs typeface="Inter"/>
                <a:sym typeface="Inter"/>
              </a:rPr>
              <a:t> together</a:t>
            </a:r>
            <a:endParaRPr sz="900"/>
          </a:p>
        </p:txBody>
      </p:sp>
      <p:sp>
        <p:nvSpPr>
          <p:cNvPr id="180" name="Google Shape;180;p6"/>
          <p:cNvSpPr txBox="1"/>
          <p:nvPr/>
        </p:nvSpPr>
        <p:spPr>
          <a:xfrm>
            <a:off x="731520" y="129388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A4E46"/>
                </a:solidFill>
                <a:latin typeface="Inter"/>
                <a:ea typeface="Inter"/>
                <a:cs typeface="Inter"/>
                <a:sym typeface="Inter"/>
              </a:rPr>
              <a:t>Each phrase has a social job in the interaction:</a:t>
            </a:r>
            <a:endParaRPr sz="1200"/>
          </a:p>
        </p:txBody>
      </p:sp>
      <p:sp>
        <p:nvSpPr>
          <p:cNvPr id="181" name="Google Shape;181;p6"/>
          <p:cNvSpPr/>
          <p:nvPr/>
        </p:nvSpPr>
        <p:spPr>
          <a:xfrm>
            <a:off x="731520" y="1737360"/>
            <a:ext cx="6583680" cy="123444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E0D8C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822960" y="1920240"/>
            <a:ext cx="73152" cy="868680"/>
          </a:xfrm>
          <a:prstGeom prst="rect">
            <a:avLst/>
          </a:prstGeom>
          <a:solidFill>
            <a:srgbClr val="3B7A7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 txBox="1"/>
          <p:nvPr/>
        </p:nvSpPr>
        <p:spPr>
          <a:xfrm>
            <a:off x="1051560" y="18288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C2420"/>
                </a:solidFill>
              </a:rPr>
              <a:t>ขอบคุณ</a:t>
            </a:r>
            <a:endParaRPr/>
          </a:p>
        </p:txBody>
      </p:sp>
      <p:sp>
        <p:nvSpPr>
          <p:cNvPr id="184" name="Google Shape;184;p6"/>
          <p:cNvSpPr txBox="1"/>
          <p:nvPr/>
        </p:nvSpPr>
        <p:spPr>
          <a:xfrm>
            <a:off x="1051560" y="22402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5A4E46"/>
                </a:solidFill>
                <a:latin typeface="Inter"/>
                <a:ea typeface="Inter"/>
                <a:cs typeface="Inter"/>
                <a:sym typeface="Inter"/>
              </a:rPr>
              <a:t>khàawp-khun</a:t>
            </a:r>
            <a:endParaRPr/>
          </a:p>
        </p:txBody>
      </p:sp>
      <p:sp>
        <p:nvSpPr>
          <p:cNvPr id="185" name="Google Shape;185;p6"/>
          <p:cNvSpPr txBox="1"/>
          <p:nvPr/>
        </p:nvSpPr>
        <p:spPr>
          <a:xfrm>
            <a:off x="3657600" y="187452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C2420"/>
                </a:solidFill>
                <a:latin typeface="Inter"/>
                <a:ea typeface="Inter"/>
                <a:cs typeface="Inter"/>
                <a:sym typeface="Inter"/>
              </a:rPr>
              <a:t>Closes a moment warmly</a:t>
            </a:r>
            <a:endParaRPr/>
          </a:p>
        </p:txBody>
      </p:sp>
      <p:sp>
        <p:nvSpPr>
          <p:cNvPr id="186" name="Google Shape;186;p6"/>
          <p:cNvSpPr txBox="1"/>
          <p:nvPr/>
        </p:nvSpPr>
        <p:spPr>
          <a:xfrm>
            <a:off x="3657600" y="228600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A7E76"/>
                </a:solidFill>
                <a:latin typeface="Inter"/>
                <a:ea typeface="Inter"/>
                <a:cs typeface="Inter"/>
                <a:sym typeface="Inter"/>
              </a:rPr>
              <a:t>After help, service, or a small kindness</a:t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731520" y="3108960"/>
            <a:ext cx="6583680" cy="123444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E0D8C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822960" y="3291840"/>
            <a:ext cx="73152" cy="868680"/>
          </a:xfrm>
          <a:prstGeom prst="rect">
            <a:avLst/>
          </a:prstGeom>
          <a:solidFill>
            <a:srgbClr val="A052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 txBox="1"/>
          <p:nvPr/>
        </p:nvSpPr>
        <p:spPr>
          <a:xfrm>
            <a:off x="1051560" y="32004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C2420"/>
                </a:solidFill>
              </a:rPr>
              <a:t>ขอโทษ</a:t>
            </a:r>
            <a:endParaRPr/>
          </a:p>
        </p:txBody>
      </p:sp>
      <p:sp>
        <p:nvSpPr>
          <p:cNvPr id="190" name="Google Shape;190;p6"/>
          <p:cNvSpPr txBox="1"/>
          <p:nvPr/>
        </p:nvSpPr>
        <p:spPr>
          <a:xfrm>
            <a:off x="1051560" y="36118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5A4E46"/>
                </a:solidFill>
                <a:latin typeface="Inter"/>
                <a:ea typeface="Inter"/>
                <a:cs typeface="Inter"/>
                <a:sym typeface="Inter"/>
              </a:rPr>
              <a:t>khǎaw-thôot</a:t>
            </a:r>
            <a:endParaRPr/>
          </a:p>
        </p:txBody>
      </p:sp>
      <p:sp>
        <p:nvSpPr>
          <p:cNvPr id="191" name="Google Shape;191;p6"/>
          <p:cNvSpPr txBox="1"/>
          <p:nvPr/>
        </p:nvSpPr>
        <p:spPr>
          <a:xfrm>
            <a:off x="3657600" y="324612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C2420"/>
                </a:solidFill>
                <a:latin typeface="Inter"/>
                <a:ea typeface="Inter"/>
                <a:cs typeface="Inter"/>
                <a:sym typeface="Inter"/>
              </a:rPr>
              <a:t>Opens a repair</a:t>
            </a:r>
            <a:endParaRPr/>
          </a:p>
        </p:txBody>
      </p:sp>
      <p:sp>
        <p:nvSpPr>
          <p:cNvPr id="192" name="Google Shape;192;p6"/>
          <p:cNvSpPr txBox="1"/>
          <p:nvPr/>
        </p:nvSpPr>
        <p:spPr>
          <a:xfrm>
            <a:off x="3657600" y="365760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A7E76"/>
                </a:solidFill>
                <a:latin typeface="Inter"/>
                <a:ea typeface="Inter"/>
                <a:cs typeface="Inter"/>
                <a:sym typeface="Inter"/>
              </a:rPr>
              <a:t>To interrupt gently or apologise</a:t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731520" y="4480560"/>
            <a:ext cx="6583680" cy="123444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E0D8C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822960" y="4663440"/>
            <a:ext cx="73152" cy="868680"/>
          </a:xfrm>
          <a:prstGeom prst="rect">
            <a:avLst/>
          </a:prstGeom>
          <a:solidFill>
            <a:srgbClr val="B896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 txBox="1"/>
          <p:nvPr/>
        </p:nvSpPr>
        <p:spPr>
          <a:xfrm>
            <a:off x="1051560" y="45720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C2420"/>
                </a:solidFill>
              </a:rPr>
              <a:t>ไม่เป็นไร</a:t>
            </a:r>
            <a:endParaRPr/>
          </a:p>
        </p:txBody>
      </p:sp>
      <p:sp>
        <p:nvSpPr>
          <p:cNvPr id="196" name="Google Shape;196;p6"/>
          <p:cNvSpPr txBox="1"/>
          <p:nvPr/>
        </p:nvSpPr>
        <p:spPr>
          <a:xfrm>
            <a:off x="1051560" y="49834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5A4E46"/>
                </a:solidFill>
                <a:latin typeface="Inter"/>
                <a:ea typeface="Inter"/>
                <a:cs typeface="Inter"/>
                <a:sym typeface="Inter"/>
              </a:rPr>
              <a:t>mâi bpen rai</a:t>
            </a:r>
            <a:endParaRPr/>
          </a:p>
        </p:txBody>
      </p:sp>
      <p:sp>
        <p:nvSpPr>
          <p:cNvPr id="197" name="Google Shape;197;p6"/>
          <p:cNvSpPr txBox="1"/>
          <p:nvPr/>
        </p:nvSpPr>
        <p:spPr>
          <a:xfrm>
            <a:off x="3657600" y="461772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C2420"/>
                </a:solidFill>
                <a:latin typeface="Inter"/>
                <a:ea typeface="Inter"/>
                <a:cs typeface="Inter"/>
                <a:sym typeface="Inter"/>
              </a:rPr>
              <a:t>Smooths everything out</a:t>
            </a:r>
            <a:endParaRPr/>
          </a:p>
        </p:txBody>
      </p:sp>
      <p:sp>
        <p:nvSpPr>
          <p:cNvPr id="198" name="Google Shape;198;p6"/>
          <p:cNvSpPr txBox="1"/>
          <p:nvPr/>
        </p:nvSpPr>
        <p:spPr>
          <a:xfrm>
            <a:off x="3657600" y="502920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A7E76"/>
                </a:solidFill>
                <a:latin typeface="Inter"/>
                <a:ea typeface="Inter"/>
                <a:cs typeface="Inter"/>
                <a:sym typeface="Inter"/>
              </a:rPr>
              <a:t>Answers a thank-you or small apology</a:t>
            </a: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731527" y="896075"/>
            <a:ext cx="1210500" cy="320100"/>
          </a:xfrm>
          <a:prstGeom prst="roundRect">
            <a:avLst>
              <a:gd fmla="val 30000" name="adj"/>
            </a:avLst>
          </a:prstGeom>
          <a:solidFill>
            <a:srgbClr val="B8963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Section </a:t>
            </a:r>
            <a:r>
              <a:rPr b="1" lang="en-US" sz="1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6F0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0" y="0"/>
            <a:ext cx="8128101" cy="50800"/>
          </a:xfrm>
          <a:prstGeom prst="rect">
            <a:avLst/>
          </a:prstGeom>
          <a:solidFill>
            <a:srgbClr val="B896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 txBox="1"/>
          <p:nvPr/>
        </p:nvSpPr>
        <p:spPr>
          <a:xfrm>
            <a:off x="1942030" y="521131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C2420"/>
                </a:solidFill>
                <a:latin typeface="Inter"/>
                <a:ea typeface="Inter"/>
                <a:cs typeface="Inter"/>
                <a:sym typeface="Inter"/>
              </a:rPr>
              <a:t>Pick the right polite ending</a:t>
            </a:r>
            <a:endParaRPr/>
          </a:p>
        </p:txBody>
      </p:sp>
      <p:sp>
        <p:nvSpPr>
          <p:cNvPr id="207" name="Google Shape;207;p7"/>
          <p:cNvSpPr txBox="1"/>
          <p:nvPr/>
        </p:nvSpPr>
        <p:spPr>
          <a:xfrm>
            <a:off x="731520" y="1083553"/>
            <a:ext cx="6858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A4E46"/>
                </a:solidFill>
                <a:latin typeface="Inter"/>
                <a:ea typeface="Inter"/>
                <a:cs typeface="Inter"/>
                <a:sym typeface="Inter"/>
              </a:rPr>
              <a:t>Thai polite endings do real work — they shape the tone of the whole line.</a:t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731520" y="1554480"/>
            <a:ext cx="6583680" cy="109728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E0D8C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868680" y="1737360"/>
            <a:ext cx="1463040" cy="731520"/>
          </a:xfrm>
          <a:prstGeom prst="roundRect">
            <a:avLst>
              <a:gd fmla="val 15000" name="adj"/>
            </a:avLst>
          </a:prstGeom>
          <a:solidFill>
            <a:srgbClr val="3B7A7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</a:rPr>
              <a:t>ครับ</a:t>
            </a:r>
            <a:endParaRPr/>
          </a:p>
        </p:txBody>
      </p:sp>
      <p:sp>
        <p:nvSpPr>
          <p:cNvPr id="210" name="Google Shape;210;p7"/>
          <p:cNvSpPr txBox="1"/>
          <p:nvPr/>
        </p:nvSpPr>
        <p:spPr>
          <a:xfrm>
            <a:off x="2560320" y="16459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C2420"/>
                </a:solidFill>
                <a:latin typeface="Inter"/>
                <a:ea typeface="Inter"/>
                <a:cs typeface="Inter"/>
                <a:sym typeface="Inter"/>
              </a:rPr>
              <a:t>khráp  —  male polite ending</a:t>
            </a:r>
            <a:endParaRPr/>
          </a:p>
        </p:txBody>
      </p:sp>
      <p:sp>
        <p:nvSpPr>
          <p:cNvPr id="211" name="Google Shape;211;p7"/>
          <p:cNvSpPr txBox="1"/>
          <p:nvPr/>
        </p:nvSpPr>
        <p:spPr>
          <a:xfrm>
            <a:off x="2560320" y="20116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A4E46"/>
                </a:solidFill>
                <a:latin typeface="Inter"/>
                <a:ea typeface="Inter"/>
                <a:cs typeface="Inter"/>
                <a:sym typeface="Inter"/>
              </a:rPr>
              <a:t>Use for statements and questions</a:t>
            </a: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731520" y="2788920"/>
            <a:ext cx="6583680" cy="109728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E0D8C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868680" y="2971800"/>
            <a:ext cx="1463040" cy="731520"/>
          </a:xfrm>
          <a:prstGeom prst="roundRect">
            <a:avLst>
              <a:gd fmla="val 15000" name="adj"/>
            </a:avLst>
          </a:prstGeom>
          <a:solidFill>
            <a:srgbClr val="A052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</a:rPr>
              <a:t>ค่ะ</a:t>
            </a:r>
            <a:endParaRPr/>
          </a:p>
        </p:txBody>
      </p:sp>
      <p:sp>
        <p:nvSpPr>
          <p:cNvPr id="214" name="Google Shape;214;p7"/>
          <p:cNvSpPr txBox="1"/>
          <p:nvPr/>
        </p:nvSpPr>
        <p:spPr>
          <a:xfrm>
            <a:off x="2560320" y="28803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C2420"/>
                </a:solidFill>
                <a:latin typeface="Inter"/>
                <a:ea typeface="Inter"/>
                <a:cs typeface="Inter"/>
                <a:sym typeface="Inter"/>
              </a:rPr>
              <a:t>khâ  —  female statement ending</a:t>
            </a:r>
            <a:endParaRPr/>
          </a:p>
        </p:txBody>
      </p:sp>
      <p:sp>
        <p:nvSpPr>
          <p:cNvPr id="215" name="Google Shape;215;p7"/>
          <p:cNvSpPr txBox="1"/>
          <p:nvPr/>
        </p:nvSpPr>
        <p:spPr>
          <a:xfrm>
            <a:off x="2560320" y="32461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A4E46"/>
                </a:solidFill>
                <a:latin typeface="Inter"/>
                <a:ea typeface="Inter"/>
                <a:cs typeface="Inter"/>
                <a:sym typeface="Inter"/>
              </a:rPr>
              <a:t>Use for statements and answers</a:t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731520" y="4023360"/>
            <a:ext cx="6583680" cy="109728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E0D8C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868680" y="4206240"/>
            <a:ext cx="1463040" cy="731520"/>
          </a:xfrm>
          <a:prstGeom prst="roundRect">
            <a:avLst>
              <a:gd fmla="val 15000" name="adj"/>
            </a:avLst>
          </a:prstGeom>
          <a:solidFill>
            <a:srgbClr val="B896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</a:rPr>
              <a:t>คะ</a:t>
            </a:r>
            <a:endParaRPr/>
          </a:p>
        </p:txBody>
      </p:sp>
      <p:sp>
        <p:nvSpPr>
          <p:cNvPr id="218" name="Google Shape;218;p7"/>
          <p:cNvSpPr txBox="1"/>
          <p:nvPr/>
        </p:nvSpPr>
        <p:spPr>
          <a:xfrm>
            <a:off x="2560320" y="41148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C2420"/>
                </a:solidFill>
                <a:latin typeface="Inter"/>
                <a:ea typeface="Inter"/>
                <a:cs typeface="Inter"/>
                <a:sym typeface="Inter"/>
              </a:rPr>
              <a:t>khá  —  female question ending</a:t>
            </a:r>
            <a:endParaRPr/>
          </a:p>
        </p:txBody>
      </p:sp>
      <p:sp>
        <p:nvSpPr>
          <p:cNvPr id="219" name="Google Shape;219;p7"/>
          <p:cNvSpPr txBox="1"/>
          <p:nvPr/>
        </p:nvSpPr>
        <p:spPr>
          <a:xfrm>
            <a:off x="2560320" y="44805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A4E46"/>
                </a:solidFill>
                <a:latin typeface="Inter"/>
                <a:ea typeface="Inter"/>
                <a:cs typeface="Inter"/>
                <a:sym typeface="Inter"/>
              </a:rPr>
              <a:t>Use when asking questions</a:t>
            </a:r>
            <a:endParaRPr/>
          </a:p>
        </p:txBody>
      </p:sp>
      <p:sp>
        <p:nvSpPr>
          <p:cNvPr id="220" name="Google Shape;220;p7"/>
          <p:cNvSpPr txBox="1"/>
          <p:nvPr/>
        </p:nvSpPr>
        <p:spPr>
          <a:xfrm>
            <a:off x="731525" y="5394943"/>
            <a:ext cx="6858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0522D"/>
                </a:solidFill>
                <a:latin typeface="Inter"/>
                <a:ea typeface="Inter"/>
                <a:cs typeface="Inter"/>
                <a:sym typeface="Inter"/>
              </a:rPr>
              <a:t>Beginner rule: learn ครับ and ค่ะ first for </a:t>
            </a:r>
            <a:endParaRPr b="1" i="0" sz="1800" u="none" cap="none" strike="noStrike">
              <a:solidFill>
                <a:srgbClr val="A0522D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0522D"/>
                </a:solidFill>
                <a:latin typeface="Inter"/>
                <a:ea typeface="Inter"/>
                <a:cs typeface="Inter"/>
                <a:sym typeface="Inter"/>
              </a:rPr>
              <a:t>safe polite statements.</a:t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731527" y="642588"/>
            <a:ext cx="1210500" cy="320100"/>
          </a:xfrm>
          <a:prstGeom prst="roundRect">
            <a:avLst>
              <a:gd fmla="val 30000" name="adj"/>
            </a:avLst>
          </a:prstGeom>
          <a:solidFill>
            <a:srgbClr val="B8963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Section </a:t>
            </a:r>
            <a:r>
              <a:rPr b="1" lang="en-US" sz="1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6F0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0" y="0"/>
            <a:ext cx="8128101" cy="50800"/>
          </a:xfrm>
          <a:prstGeom prst="rect">
            <a:avLst/>
          </a:prstGeom>
          <a:solidFill>
            <a:srgbClr val="B896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 txBox="1"/>
          <p:nvPr/>
        </p:nvSpPr>
        <p:spPr>
          <a:xfrm>
            <a:off x="2063268" y="505418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C2420"/>
                </a:solidFill>
                <a:latin typeface="Inter"/>
                <a:ea typeface="Inter"/>
                <a:cs typeface="Inter"/>
                <a:sym typeface="Inter"/>
              </a:rPr>
              <a:t>Substitution drill</a:t>
            </a:r>
            <a:endParaRPr/>
          </a:p>
        </p:txBody>
      </p:sp>
      <p:sp>
        <p:nvSpPr>
          <p:cNvPr id="229" name="Google Shape;229;p8"/>
          <p:cNvSpPr txBox="1"/>
          <p:nvPr/>
        </p:nvSpPr>
        <p:spPr>
          <a:xfrm>
            <a:off x="731520" y="1075703"/>
            <a:ext cx="6858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A4E46"/>
                </a:solidFill>
                <a:latin typeface="Inter"/>
                <a:ea typeface="Inter"/>
                <a:cs typeface="Inter"/>
                <a:sym typeface="Inter"/>
              </a:rPr>
              <a:t>Say each line with the correct polite ending:</a:t>
            </a:r>
            <a:endParaRPr sz="1100"/>
          </a:p>
        </p:txBody>
      </p:sp>
      <p:sp>
        <p:nvSpPr>
          <p:cNvPr id="230" name="Google Shape;230;p8"/>
          <p:cNvSpPr/>
          <p:nvPr/>
        </p:nvSpPr>
        <p:spPr>
          <a:xfrm>
            <a:off x="731520" y="1554480"/>
            <a:ext cx="6583680" cy="777240"/>
          </a:xfrm>
          <a:prstGeom prst="roundRect">
            <a:avLst>
              <a:gd fmla="val 5000" name="adj"/>
            </a:avLst>
          </a:prstGeom>
          <a:solidFill>
            <a:srgbClr val="FDF5E6"/>
          </a:solidFill>
          <a:ln cap="flat" cmpd="sng" w="12700">
            <a:solidFill>
              <a:srgbClr val="F0E8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 txBox="1"/>
          <p:nvPr/>
        </p:nvSpPr>
        <p:spPr>
          <a:xfrm>
            <a:off x="868680" y="16916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8963E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/>
          </a:p>
        </p:txBody>
      </p:sp>
      <p:sp>
        <p:nvSpPr>
          <p:cNvPr id="232" name="Google Shape;232;p8"/>
          <p:cNvSpPr txBox="1"/>
          <p:nvPr/>
        </p:nvSpPr>
        <p:spPr>
          <a:xfrm>
            <a:off x="1188720" y="1627632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C2420"/>
                </a:solidFill>
              </a:rPr>
              <a:t>สวัสดี___</a:t>
            </a:r>
            <a:endParaRPr/>
          </a:p>
        </p:txBody>
      </p:sp>
      <p:sp>
        <p:nvSpPr>
          <p:cNvPr id="233" name="Google Shape;233;p8"/>
          <p:cNvSpPr txBox="1"/>
          <p:nvPr/>
        </p:nvSpPr>
        <p:spPr>
          <a:xfrm>
            <a:off x="1188720" y="20116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5A4E46"/>
                </a:solidFill>
                <a:latin typeface="Inter"/>
                <a:ea typeface="Inter"/>
                <a:cs typeface="Inter"/>
                <a:sym typeface="Inter"/>
              </a:rPr>
              <a:t>sà-wàt-dii ___</a:t>
            </a:r>
            <a:endParaRPr/>
          </a:p>
        </p:txBody>
      </p:sp>
      <p:sp>
        <p:nvSpPr>
          <p:cNvPr id="234" name="Google Shape;234;p8"/>
          <p:cNvSpPr txBox="1"/>
          <p:nvPr/>
        </p:nvSpPr>
        <p:spPr>
          <a:xfrm>
            <a:off x="4846320" y="173736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A0522D"/>
                </a:solidFill>
                <a:latin typeface="Inter"/>
                <a:ea typeface="Inter"/>
                <a:cs typeface="Inter"/>
                <a:sym typeface="Inter"/>
              </a:rPr>
              <a:t>Add ครับ or ค่ะ</a:t>
            </a:r>
            <a:endParaRPr/>
          </a:p>
        </p:txBody>
      </p:sp>
      <p:sp>
        <p:nvSpPr>
          <p:cNvPr id="235" name="Google Shape;235;p8"/>
          <p:cNvSpPr txBox="1"/>
          <p:nvPr/>
        </p:nvSpPr>
        <p:spPr>
          <a:xfrm>
            <a:off x="868680" y="254203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8963E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/>
          </a:p>
        </p:txBody>
      </p:sp>
      <p:sp>
        <p:nvSpPr>
          <p:cNvPr id="236" name="Google Shape;236;p8"/>
          <p:cNvSpPr txBox="1"/>
          <p:nvPr/>
        </p:nvSpPr>
        <p:spPr>
          <a:xfrm>
            <a:off x="1188720" y="2478024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C2420"/>
                </a:solidFill>
              </a:rPr>
              <a:t>ขอบคุณ___</a:t>
            </a:r>
            <a:endParaRPr/>
          </a:p>
        </p:txBody>
      </p:sp>
      <p:sp>
        <p:nvSpPr>
          <p:cNvPr id="237" name="Google Shape;237;p8"/>
          <p:cNvSpPr txBox="1"/>
          <p:nvPr/>
        </p:nvSpPr>
        <p:spPr>
          <a:xfrm>
            <a:off x="1188720" y="286207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5A4E46"/>
                </a:solidFill>
                <a:latin typeface="Inter"/>
                <a:ea typeface="Inter"/>
                <a:cs typeface="Inter"/>
                <a:sym typeface="Inter"/>
              </a:rPr>
              <a:t>khàawp-khun ___</a:t>
            </a:r>
            <a:endParaRPr/>
          </a:p>
        </p:txBody>
      </p:sp>
      <p:sp>
        <p:nvSpPr>
          <p:cNvPr id="238" name="Google Shape;238;p8"/>
          <p:cNvSpPr txBox="1"/>
          <p:nvPr/>
        </p:nvSpPr>
        <p:spPr>
          <a:xfrm>
            <a:off x="4846320" y="2587752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A0522D"/>
                </a:solidFill>
                <a:latin typeface="Inter"/>
                <a:ea typeface="Inter"/>
                <a:cs typeface="Inter"/>
                <a:sym typeface="Inter"/>
              </a:rPr>
              <a:t>Add ครับ or ค่ะ</a:t>
            </a: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731520" y="3255264"/>
            <a:ext cx="6583680" cy="777240"/>
          </a:xfrm>
          <a:prstGeom prst="roundRect">
            <a:avLst>
              <a:gd fmla="val 5000" name="adj"/>
            </a:avLst>
          </a:prstGeom>
          <a:solidFill>
            <a:srgbClr val="FDF5E6"/>
          </a:solidFill>
          <a:ln cap="flat" cmpd="sng" w="12700">
            <a:solidFill>
              <a:srgbClr val="F0E8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 txBox="1"/>
          <p:nvPr/>
        </p:nvSpPr>
        <p:spPr>
          <a:xfrm>
            <a:off x="868680" y="339242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8963E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/>
          </a:p>
        </p:txBody>
      </p:sp>
      <p:sp>
        <p:nvSpPr>
          <p:cNvPr id="241" name="Google Shape;241;p8"/>
          <p:cNvSpPr txBox="1"/>
          <p:nvPr/>
        </p:nvSpPr>
        <p:spPr>
          <a:xfrm>
            <a:off x="1188720" y="3328416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C2420"/>
                </a:solidFill>
              </a:rPr>
              <a:t>ขอโทษ___</a:t>
            </a:r>
            <a:endParaRPr/>
          </a:p>
        </p:txBody>
      </p:sp>
      <p:sp>
        <p:nvSpPr>
          <p:cNvPr id="242" name="Google Shape;242;p8"/>
          <p:cNvSpPr txBox="1"/>
          <p:nvPr/>
        </p:nvSpPr>
        <p:spPr>
          <a:xfrm>
            <a:off x="1188720" y="371246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5A4E46"/>
                </a:solidFill>
                <a:latin typeface="Inter"/>
                <a:ea typeface="Inter"/>
                <a:cs typeface="Inter"/>
                <a:sym typeface="Inter"/>
              </a:rPr>
              <a:t>khǎaw-thôot ___</a:t>
            </a:r>
            <a:endParaRPr/>
          </a:p>
        </p:txBody>
      </p:sp>
      <p:sp>
        <p:nvSpPr>
          <p:cNvPr id="243" name="Google Shape;243;p8"/>
          <p:cNvSpPr txBox="1"/>
          <p:nvPr/>
        </p:nvSpPr>
        <p:spPr>
          <a:xfrm>
            <a:off x="4846320" y="3438144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A0522D"/>
                </a:solidFill>
                <a:latin typeface="Inter"/>
                <a:ea typeface="Inter"/>
                <a:cs typeface="Inter"/>
                <a:sym typeface="Inter"/>
              </a:rPr>
              <a:t>Add ครับ or ค่ะ</a:t>
            </a:r>
            <a:endParaRPr/>
          </a:p>
        </p:txBody>
      </p:sp>
      <p:sp>
        <p:nvSpPr>
          <p:cNvPr id="244" name="Google Shape;244;p8"/>
          <p:cNvSpPr txBox="1"/>
          <p:nvPr/>
        </p:nvSpPr>
        <p:spPr>
          <a:xfrm>
            <a:off x="868680" y="424281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8963E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/>
          </a:p>
        </p:txBody>
      </p:sp>
      <p:sp>
        <p:nvSpPr>
          <p:cNvPr id="245" name="Google Shape;245;p8"/>
          <p:cNvSpPr txBox="1"/>
          <p:nvPr/>
        </p:nvSpPr>
        <p:spPr>
          <a:xfrm>
            <a:off x="1188720" y="4178808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C2420"/>
                </a:solidFill>
              </a:rPr>
              <a:t>ใช่___</a:t>
            </a:r>
            <a:endParaRPr/>
          </a:p>
        </p:txBody>
      </p:sp>
      <p:sp>
        <p:nvSpPr>
          <p:cNvPr id="246" name="Google Shape;246;p8"/>
          <p:cNvSpPr txBox="1"/>
          <p:nvPr/>
        </p:nvSpPr>
        <p:spPr>
          <a:xfrm>
            <a:off x="1188720" y="4562856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5A4E46"/>
                </a:solidFill>
                <a:latin typeface="Inter"/>
                <a:ea typeface="Inter"/>
                <a:cs typeface="Inter"/>
                <a:sym typeface="Inter"/>
              </a:rPr>
              <a:t>châi ___</a:t>
            </a:r>
            <a:endParaRPr/>
          </a:p>
        </p:txBody>
      </p:sp>
      <p:sp>
        <p:nvSpPr>
          <p:cNvPr id="247" name="Google Shape;247;p8"/>
          <p:cNvSpPr txBox="1"/>
          <p:nvPr/>
        </p:nvSpPr>
        <p:spPr>
          <a:xfrm>
            <a:off x="4846320" y="4288536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A0522D"/>
                </a:solidFill>
                <a:latin typeface="Inter"/>
                <a:ea typeface="Inter"/>
                <a:cs typeface="Inter"/>
                <a:sym typeface="Inter"/>
              </a:rPr>
              <a:t>Add ครับ or ค่ะ</a:t>
            </a: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731520" y="4956048"/>
            <a:ext cx="6583680" cy="777240"/>
          </a:xfrm>
          <a:prstGeom prst="roundRect">
            <a:avLst>
              <a:gd fmla="val 5000" name="adj"/>
            </a:avLst>
          </a:prstGeom>
          <a:solidFill>
            <a:srgbClr val="FDF5E6"/>
          </a:solidFill>
          <a:ln cap="flat" cmpd="sng" w="12700">
            <a:solidFill>
              <a:srgbClr val="F0E8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 txBox="1"/>
          <p:nvPr/>
        </p:nvSpPr>
        <p:spPr>
          <a:xfrm>
            <a:off x="868680" y="509320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8963E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/>
          </a:p>
        </p:txBody>
      </p:sp>
      <p:sp>
        <p:nvSpPr>
          <p:cNvPr id="250" name="Google Shape;250;p8"/>
          <p:cNvSpPr txBox="1"/>
          <p:nvPr/>
        </p:nvSpPr>
        <p:spPr>
          <a:xfrm>
            <a:off x="1188720" y="502920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C2420"/>
                </a:solidFill>
              </a:rPr>
              <a:t>ไม่เป็นไร___</a:t>
            </a:r>
            <a:endParaRPr/>
          </a:p>
        </p:txBody>
      </p:sp>
      <p:sp>
        <p:nvSpPr>
          <p:cNvPr id="251" name="Google Shape;251;p8"/>
          <p:cNvSpPr txBox="1"/>
          <p:nvPr/>
        </p:nvSpPr>
        <p:spPr>
          <a:xfrm>
            <a:off x="1188720" y="541324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5A4E46"/>
                </a:solidFill>
                <a:latin typeface="Inter"/>
                <a:ea typeface="Inter"/>
                <a:cs typeface="Inter"/>
                <a:sym typeface="Inter"/>
              </a:rPr>
              <a:t>mâi bpen rai ___</a:t>
            </a:r>
            <a:endParaRPr/>
          </a:p>
        </p:txBody>
      </p:sp>
      <p:sp>
        <p:nvSpPr>
          <p:cNvPr id="252" name="Google Shape;252;p8"/>
          <p:cNvSpPr txBox="1"/>
          <p:nvPr/>
        </p:nvSpPr>
        <p:spPr>
          <a:xfrm>
            <a:off x="4846320" y="5138928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A0522D"/>
                </a:solidFill>
                <a:latin typeface="Inter"/>
                <a:ea typeface="Inter"/>
                <a:cs typeface="Inter"/>
                <a:sym typeface="Inter"/>
              </a:rPr>
              <a:t>Add ครับ or ค่ะ</a:t>
            </a: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731527" y="642588"/>
            <a:ext cx="1210500" cy="320100"/>
          </a:xfrm>
          <a:prstGeom prst="roundRect">
            <a:avLst>
              <a:gd fmla="val 30000" name="adj"/>
            </a:avLst>
          </a:prstGeom>
          <a:solidFill>
            <a:srgbClr val="B8963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Section </a:t>
            </a:r>
            <a:r>
              <a:rPr b="1" lang="en-US" sz="1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6F0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9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0" y="0"/>
            <a:ext cx="8128101" cy="50800"/>
          </a:xfrm>
          <a:prstGeom prst="rect">
            <a:avLst/>
          </a:prstGeom>
          <a:solidFill>
            <a:srgbClr val="B896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 txBox="1"/>
          <p:nvPr/>
        </p:nvSpPr>
        <p:spPr>
          <a:xfrm>
            <a:off x="2029374" y="720278"/>
            <a:ext cx="70305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C2420"/>
                </a:solidFill>
                <a:latin typeface="Inter"/>
                <a:ea typeface="Inter"/>
                <a:cs typeface="Inter"/>
                <a:sym typeface="Inter"/>
              </a:rPr>
              <a:t>Answer yes, no, and no problem</a:t>
            </a:r>
            <a:endParaRPr sz="1200"/>
          </a:p>
        </p:txBody>
      </p:sp>
      <p:sp>
        <p:nvSpPr>
          <p:cNvPr id="261" name="Google Shape;261;p9"/>
          <p:cNvSpPr txBox="1"/>
          <p:nvPr/>
        </p:nvSpPr>
        <p:spPr>
          <a:xfrm>
            <a:off x="731520" y="1193328"/>
            <a:ext cx="6858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A4E46"/>
                </a:solidFill>
                <a:latin typeface="Inter"/>
                <a:ea typeface="Inter"/>
                <a:cs typeface="Inter"/>
                <a:sym typeface="Inter"/>
              </a:rPr>
              <a:t>Three response tools — two answer the idea, one softens the moment.</a:t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731520" y="1600205"/>
            <a:ext cx="1645800" cy="320100"/>
          </a:xfrm>
          <a:prstGeom prst="roundRect">
            <a:avLst>
              <a:gd fmla="val 5000" name="adj"/>
            </a:avLst>
          </a:prstGeom>
          <a:solidFill>
            <a:srgbClr val="3B7A72"/>
          </a:solidFill>
          <a:ln cap="flat" cmpd="sng" w="12700">
            <a:solidFill>
              <a:srgbClr val="3B7A7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 txBox="1"/>
          <p:nvPr/>
        </p:nvSpPr>
        <p:spPr>
          <a:xfrm>
            <a:off x="731533" y="1623118"/>
            <a:ext cx="164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Direct answers</a:t>
            </a: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731520" y="2011680"/>
            <a:ext cx="6583680" cy="109728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E0D8C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822960" y="2148840"/>
            <a:ext cx="73152" cy="822960"/>
          </a:xfrm>
          <a:prstGeom prst="rect">
            <a:avLst/>
          </a:prstGeom>
          <a:solidFill>
            <a:srgbClr val="3B7A7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 txBox="1"/>
          <p:nvPr/>
        </p:nvSpPr>
        <p:spPr>
          <a:xfrm>
            <a:off x="1051560" y="205740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C2420"/>
                </a:solidFill>
              </a:rPr>
              <a:t>ใช่</a:t>
            </a:r>
            <a:endParaRPr/>
          </a:p>
        </p:txBody>
      </p:sp>
      <p:sp>
        <p:nvSpPr>
          <p:cNvPr id="267" name="Google Shape;267;p9"/>
          <p:cNvSpPr txBox="1"/>
          <p:nvPr/>
        </p:nvSpPr>
        <p:spPr>
          <a:xfrm>
            <a:off x="1051560" y="25146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5A4E46"/>
                </a:solidFill>
                <a:latin typeface="Inter"/>
                <a:ea typeface="Inter"/>
                <a:cs typeface="Inter"/>
                <a:sym typeface="Inter"/>
              </a:rPr>
              <a:t>châi</a:t>
            </a:r>
            <a:endParaRPr/>
          </a:p>
        </p:txBody>
      </p:sp>
      <p:sp>
        <p:nvSpPr>
          <p:cNvPr id="268" name="Google Shape;268;p9"/>
          <p:cNvSpPr txBox="1"/>
          <p:nvPr/>
        </p:nvSpPr>
        <p:spPr>
          <a:xfrm>
            <a:off x="3474720" y="21488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C2420"/>
                </a:solidFill>
                <a:latin typeface="Inter"/>
                <a:ea typeface="Inter"/>
                <a:cs typeface="Inter"/>
                <a:sym typeface="Inter"/>
              </a:rPr>
              <a:t>yes / that is right</a:t>
            </a:r>
            <a:endParaRPr/>
          </a:p>
        </p:txBody>
      </p:sp>
      <p:sp>
        <p:nvSpPr>
          <p:cNvPr id="269" name="Google Shape;269;p9"/>
          <p:cNvSpPr txBox="1"/>
          <p:nvPr/>
        </p:nvSpPr>
        <p:spPr>
          <a:xfrm>
            <a:off x="3474720" y="25146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A7E76"/>
                </a:solidFill>
                <a:latin typeface="Inter"/>
                <a:ea typeface="Inter"/>
                <a:cs typeface="Inter"/>
                <a:sym typeface="Inter"/>
              </a:rPr>
              <a:t>Confirms the idea</a:t>
            </a:r>
            <a:endParaRPr/>
          </a:p>
        </p:txBody>
      </p:sp>
      <p:sp>
        <p:nvSpPr>
          <p:cNvPr id="270" name="Google Shape;270;p9"/>
          <p:cNvSpPr/>
          <p:nvPr/>
        </p:nvSpPr>
        <p:spPr>
          <a:xfrm>
            <a:off x="731520" y="3246120"/>
            <a:ext cx="6583680" cy="109728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E0D8C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822960" y="3383280"/>
            <a:ext cx="73152" cy="822960"/>
          </a:xfrm>
          <a:prstGeom prst="rect">
            <a:avLst/>
          </a:prstGeom>
          <a:solidFill>
            <a:srgbClr val="3B7A7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 txBox="1"/>
          <p:nvPr/>
        </p:nvSpPr>
        <p:spPr>
          <a:xfrm>
            <a:off x="1051560" y="329184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C2420"/>
                </a:solidFill>
              </a:rPr>
              <a:t>ไม่ใช่</a:t>
            </a:r>
            <a:endParaRPr/>
          </a:p>
        </p:txBody>
      </p:sp>
      <p:sp>
        <p:nvSpPr>
          <p:cNvPr id="273" name="Google Shape;273;p9"/>
          <p:cNvSpPr txBox="1"/>
          <p:nvPr/>
        </p:nvSpPr>
        <p:spPr>
          <a:xfrm>
            <a:off x="1051560" y="37490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5A4E46"/>
                </a:solidFill>
                <a:latin typeface="Inter"/>
                <a:ea typeface="Inter"/>
                <a:cs typeface="Inter"/>
                <a:sym typeface="Inter"/>
              </a:rPr>
              <a:t>mâi châi</a:t>
            </a:r>
            <a:endParaRPr/>
          </a:p>
        </p:txBody>
      </p:sp>
      <p:sp>
        <p:nvSpPr>
          <p:cNvPr id="274" name="Google Shape;274;p9"/>
          <p:cNvSpPr txBox="1"/>
          <p:nvPr/>
        </p:nvSpPr>
        <p:spPr>
          <a:xfrm>
            <a:off x="3474720" y="3383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C2420"/>
                </a:solidFill>
                <a:latin typeface="Inter"/>
                <a:ea typeface="Inter"/>
                <a:cs typeface="Inter"/>
                <a:sym typeface="Inter"/>
              </a:rPr>
              <a:t>no / not right</a:t>
            </a:r>
            <a:endParaRPr/>
          </a:p>
        </p:txBody>
      </p:sp>
      <p:sp>
        <p:nvSpPr>
          <p:cNvPr id="275" name="Google Shape;275;p9"/>
          <p:cNvSpPr txBox="1"/>
          <p:nvPr/>
        </p:nvSpPr>
        <p:spPr>
          <a:xfrm>
            <a:off x="3474720" y="37490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A7E76"/>
                </a:solidFill>
                <a:latin typeface="Inter"/>
                <a:ea typeface="Inter"/>
                <a:cs typeface="Inter"/>
                <a:sym typeface="Inter"/>
              </a:rPr>
              <a:t>Corrects the idea — not aggressive</a:t>
            </a:r>
            <a:endParaRPr/>
          </a:p>
        </p:txBody>
      </p:sp>
      <p:sp>
        <p:nvSpPr>
          <p:cNvPr id="276" name="Google Shape;276;p9"/>
          <p:cNvSpPr/>
          <p:nvPr/>
        </p:nvSpPr>
        <p:spPr>
          <a:xfrm>
            <a:off x="731520" y="4572003"/>
            <a:ext cx="1828800" cy="320100"/>
          </a:xfrm>
          <a:prstGeom prst="roundRect">
            <a:avLst>
              <a:gd fmla="val 5000" name="adj"/>
            </a:avLst>
          </a:prstGeom>
          <a:solidFill>
            <a:srgbClr val="B8963E"/>
          </a:solidFill>
          <a:ln cap="flat" cmpd="sng" w="12700">
            <a:solidFill>
              <a:srgbClr val="B896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 txBox="1"/>
          <p:nvPr/>
        </p:nvSpPr>
        <p:spPr>
          <a:xfrm>
            <a:off x="731520" y="4594866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Social softener</a:t>
            </a: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731457" y="4983490"/>
            <a:ext cx="6583800" cy="1097400"/>
          </a:xfrm>
          <a:prstGeom prst="roundRect">
            <a:avLst>
              <a:gd fmla="val 5000" name="adj"/>
            </a:avLst>
          </a:prstGeom>
          <a:solidFill>
            <a:srgbClr val="FDF5E6"/>
          </a:solidFill>
          <a:ln cap="flat" cmpd="sng" w="12700">
            <a:solidFill>
              <a:srgbClr val="D4BE8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822985" y="5120700"/>
            <a:ext cx="73200" cy="822900"/>
          </a:xfrm>
          <a:prstGeom prst="rect">
            <a:avLst/>
          </a:prstGeom>
          <a:solidFill>
            <a:srgbClr val="B896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 txBox="1"/>
          <p:nvPr/>
        </p:nvSpPr>
        <p:spPr>
          <a:xfrm>
            <a:off x="1042422" y="5029235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C2420"/>
                </a:solidFill>
              </a:rPr>
              <a:t>ไม่เป็นไร</a:t>
            </a:r>
            <a:endParaRPr/>
          </a:p>
        </p:txBody>
      </p:sp>
      <p:sp>
        <p:nvSpPr>
          <p:cNvPr id="281" name="Google Shape;281;p9"/>
          <p:cNvSpPr txBox="1"/>
          <p:nvPr/>
        </p:nvSpPr>
        <p:spPr>
          <a:xfrm>
            <a:off x="1042422" y="5532123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5A4E46"/>
                </a:solidFill>
                <a:latin typeface="Inter"/>
                <a:ea typeface="Inter"/>
                <a:cs typeface="Inter"/>
                <a:sym typeface="Inter"/>
              </a:rPr>
              <a:t>mâi bpen rai</a:t>
            </a:r>
            <a:endParaRPr/>
          </a:p>
        </p:txBody>
      </p:sp>
      <p:sp>
        <p:nvSpPr>
          <p:cNvPr id="282" name="Google Shape;282;p9"/>
          <p:cNvSpPr txBox="1"/>
          <p:nvPr/>
        </p:nvSpPr>
        <p:spPr>
          <a:xfrm>
            <a:off x="3474670" y="5120700"/>
            <a:ext cx="3657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C2420"/>
                </a:solidFill>
                <a:latin typeface="Inter"/>
                <a:ea typeface="Inter"/>
                <a:cs typeface="Inter"/>
                <a:sym typeface="Inter"/>
              </a:rPr>
              <a:t>it is okay / no problem</a:t>
            </a:r>
            <a:endParaRPr/>
          </a:p>
        </p:txBody>
      </p:sp>
      <p:sp>
        <p:nvSpPr>
          <p:cNvPr id="283" name="Google Shape;283;p9"/>
          <p:cNvSpPr txBox="1"/>
          <p:nvPr/>
        </p:nvSpPr>
        <p:spPr>
          <a:xfrm>
            <a:off x="3474670" y="5486348"/>
            <a:ext cx="3657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A0522D"/>
                </a:solidFill>
                <a:latin typeface="Inter"/>
                <a:ea typeface="Inter"/>
                <a:cs typeface="Inter"/>
                <a:sym typeface="Inter"/>
              </a:rPr>
              <a:t>Softens the situation — not a yes/no answer</a:t>
            </a:r>
            <a:endParaRPr/>
          </a:p>
        </p:txBody>
      </p:sp>
      <p:sp>
        <p:nvSpPr>
          <p:cNvPr id="284" name="Google Shape;284;p9"/>
          <p:cNvSpPr/>
          <p:nvPr/>
        </p:nvSpPr>
        <p:spPr>
          <a:xfrm>
            <a:off x="731527" y="809138"/>
            <a:ext cx="1210500" cy="320100"/>
          </a:xfrm>
          <a:prstGeom prst="roundRect">
            <a:avLst>
              <a:gd fmla="val 30000" name="adj"/>
            </a:avLst>
          </a:prstGeom>
          <a:solidFill>
            <a:srgbClr val="B8963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Section </a:t>
            </a:r>
            <a:r>
              <a:rPr b="1" lang="en-US" sz="1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6F0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0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0" y="0"/>
            <a:ext cx="8128101" cy="50800"/>
          </a:xfrm>
          <a:prstGeom prst="rect">
            <a:avLst/>
          </a:prstGeom>
          <a:solidFill>
            <a:srgbClr val="B896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 txBox="1"/>
          <p:nvPr/>
        </p:nvSpPr>
        <p:spPr>
          <a:xfrm>
            <a:off x="731520" y="429768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C2420"/>
                </a:solidFill>
                <a:latin typeface="Inter"/>
                <a:ea typeface="Inter"/>
                <a:cs typeface="Inter"/>
                <a:sym typeface="Inter"/>
              </a:rPr>
              <a:t>Roleplay: First check-in</a:t>
            </a:r>
            <a:endParaRPr/>
          </a:p>
        </p:txBody>
      </p:sp>
      <p:sp>
        <p:nvSpPr>
          <p:cNvPr id="292" name="Google Shape;292;p10"/>
          <p:cNvSpPr txBox="1"/>
          <p:nvPr/>
        </p:nvSpPr>
        <p:spPr>
          <a:xfrm>
            <a:off x="731520" y="992138"/>
            <a:ext cx="6858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5A4E46"/>
                </a:solidFill>
                <a:latin typeface="Inter"/>
                <a:ea typeface="Inter"/>
                <a:cs typeface="Inter"/>
                <a:sym typeface="Inter"/>
              </a:rPr>
              <a:t>At a reception desk — practise the full exchange</a:t>
            </a:r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731520" y="1463040"/>
            <a:ext cx="1097280" cy="292608"/>
          </a:xfrm>
          <a:prstGeom prst="roundRect">
            <a:avLst>
              <a:gd fmla="val 30000" name="adj"/>
            </a:avLst>
          </a:prstGeom>
          <a:solidFill>
            <a:srgbClr val="A052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Learner</a:t>
            </a:r>
            <a:endParaRPr/>
          </a:p>
        </p:txBody>
      </p:sp>
      <p:sp>
        <p:nvSpPr>
          <p:cNvPr id="294" name="Google Shape;294;p10"/>
          <p:cNvSpPr txBox="1"/>
          <p:nvPr/>
        </p:nvSpPr>
        <p:spPr>
          <a:xfrm>
            <a:off x="2011680" y="1339583"/>
            <a:ext cx="5303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A0522D"/>
                </a:solidFill>
              </a:rPr>
              <a:t>ขอโทษครับ สวัสดีครับ</a:t>
            </a:r>
            <a:endParaRPr>
              <a:solidFill>
                <a:srgbClr val="A0522D"/>
              </a:solidFill>
            </a:endParaRPr>
          </a:p>
        </p:txBody>
      </p:sp>
      <p:sp>
        <p:nvSpPr>
          <p:cNvPr id="295" name="Google Shape;295;p10"/>
          <p:cNvSpPr txBox="1"/>
          <p:nvPr/>
        </p:nvSpPr>
        <p:spPr>
          <a:xfrm>
            <a:off x="2011693" y="1721362"/>
            <a:ext cx="530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A4E46"/>
                </a:solidFill>
                <a:latin typeface="Inter"/>
                <a:ea typeface="Inter"/>
                <a:cs typeface="Inter"/>
                <a:sym typeface="Inter"/>
              </a:rPr>
              <a:t>khǎaw-thôot khráp sà-wàt-dii khráp  —  Excuse me, hello.</a:t>
            </a:r>
            <a:endParaRPr/>
          </a:p>
        </p:txBody>
      </p:sp>
      <p:sp>
        <p:nvSpPr>
          <p:cNvPr id="296" name="Google Shape;296;p10"/>
          <p:cNvSpPr/>
          <p:nvPr/>
        </p:nvSpPr>
        <p:spPr>
          <a:xfrm>
            <a:off x="731520" y="2199095"/>
            <a:ext cx="1097400" cy="292500"/>
          </a:xfrm>
          <a:prstGeom prst="roundRect">
            <a:avLst>
              <a:gd fmla="val 30000" name="adj"/>
            </a:avLst>
          </a:prstGeom>
          <a:solidFill>
            <a:srgbClr val="3B7A7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Staff</a:t>
            </a:r>
            <a:endParaRPr/>
          </a:p>
        </p:txBody>
      </p:sp>
      <p:sp>
        <p:nvSpPr>
          <p:cNvPr id="297" name="Google Shape;297;p10"/>
          <p:cNvSpPr txBox="1"/>
          <p:nvPr/>
        </p:nvSpPr>
        <p:spPr>
          <a:xfrm>
            <a:off x="2011743" y="2048200"/>
            <a:ext cx="5303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B7A72"/>
                </a:solidFill>
              </a:rPr>
              <a:t>สวัสดีค่ะ</a:t>
            </a:r>
            <a:endParaRPr>
              <a:solidFill>
                <a:srgbClr val="3B7A72"/>
              </a:solidFill>
            </a:endParaRPr>
          </a:p>
        </p:txBody>
      </p:sp>
      <p:sp>
        <p:nvSpPr>
          <p:cNvPr id="298" name="Google Shape;298;p10"/>
          <p:cNvSpPr txBox="1"/>
          <p:nvPr/>
        </p:nvSpPr>
        <p:spPr>
          <a:xfrm>
            <a:off x="2011693" y="2482592"/>
            <a:ext cx="530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A4E46"/>
                </a:solidFill>
                <a:latin typeface="Inter"/>
                <a:ea typeface="Inter"/>
                <a:cs typeface="Inter"/>
                <a:sym typeface="Inter"/>
              </a:rPr>
              <a:t>sà-wàt-dii khâ  —  Hello.</a:t>
            </a:r>
            <a:endParaRPr/>
          </a:p>
        </p:txBody>
      </p:sp>
      <p:sp>
        <p:nvSpPr>
          <p:cNvPr id="299" name="Google Shape;299;p10"/>
          <p:cNvSpPr/>
          <p:nvPr/>
        </p:nvSpPr>
        <p:spPr>
          <a:xfrm>
            <a:off x="731583" y="2962650"/>
            <a:ext cx="1097400" cy="292500"/>
          </a:xfrm>
          <a:prstGeom prst="roundRect">
            <a:avLst>
              <a:gd fmla="val 30000" name="adj"/>
            </a:avLst>
          </a:prstGeom>
          <a:solidFill>
            <a:srgbClr val="A052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Learner</a:t>
            </a:r>
            <a:endParaRPr/>
          </a:p>
        </p:txBody>
      </p:sp>
      <p:sp>
        <p:nvSpPr>
          <p:cNvPr id="300" name="Google Shape;300;p10"/>
          <p:cNvSpPr txBox="1"/>
          <p:nvPr/>
        </p:nvSpPr>
        <p:spPr>
          <a:xfrm>
            <a:off x="2011693" y="2878130"/>
            <a:ext cx="5303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A0522D"/>
                </a:solidFill>
              </a:rPr>
              <a:t>ที่นี่ใช่ไหมครับ</a:t>
            </a:r>
            <a:endParaRPr>
              <a:solidFill>
                <a:srgbClr val="A0522D"/>
              </a:solidFill>
            </a:endParaRPr>
          </a:p>
        </p:txBody>
      </p:sp>
      <p:sp>
        <p:nvSpPr>
          <p:cNvPr id="301" name="Google Shape;301;p10"/>
          <p:cNvSpPr txBox="1"/>
          <p:nvPr/>
        </p:nvSpPr>
        <p:spPr>
          <a:xfrm>
            <a:off x="2011693" y="3253010"/>
            <a:ext cx="530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A4E46"/>
                </a:solidFill>
                <a:latin typeface="Inter"/>
                <a:ea typeface="Inter"/>
                <a:cs typeface="Inter"/>
                <a:sym typeface="Inter"/>
              </a:rPr>
              <a:t>thîi-nîi châi mái khráp  —  Is this the right place?</a:t>
            </a:r>
            <a:endParaRPr/>
          </a:p>
        </p:txBody>
      </p:sp>
      <p:sp>
        <p:nvSpPr>
          <p:cNvPr id="302" name="Google Shape;302;p10"/>
          <p:cNvSpPr/>
          <p:nvPr/>
        </p:nvSpPr>
        <p:spPr>
          <a:xfrm>
            <a:off x="731583" y="3726205"/>
            <a:ext cx="1097400" cy="292500"/>
          </a:xfrm>
          <a:prstGeom prst="roundRect">
            <a:avLst>
              <a:gd fmla="val 30000" name="adj"/>
            </a:avLst>
          </a:prstGeom>
          <a:solidFill>
            <a:srgbClr val="3B7A7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Staff</a:t>
            </a:r>
            <a:endParaRPr/>
          </a:p>
        </p:txBody>
      </p:sp>
      <p:sp>
        <p:nvSpPr>
          <p:cNvPr id="303" name="Google Shape;303;p10"/>
          <p:cNvSpPr txBox="1"/>
          <p:nvPr/>
        </p:nvSpPr>
        <p:spPr>
          <a:xfrm>
            <a:off x="2011693" y="3666773"/>
            <a:ext cx="5303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B7A72"/>
                </a:solidFill>
              </a:rPr>
              <a:t>ใช่ค่ะ</a:t>
            </a:r>
            <a:endParaRPr>
              <a:solidFill>
                <a:srgbClr val="3B7A72"/>
              </a:solidFill>
            </a:endParaRPr>
          </a:p>
        </p:txBody>
      </p:sp>
      <p:sp>
        <p:nvSpPr>
          <p:cNvPr id="304" name="Google Shape;304;p10"/>
          <p:cNvSpPr txBox="1"/>
          <p:nvPr/>
        </p:nvSpPr>
        <p:spPr>
          <a:xfrm>
            <a:off x="2011680" y="4072527"/>
            <a:ext cx="530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A4E46"/>
                </a:solidFill>
                <a:latin typeface="Inter"/>
                <a:ea typeface="Inter"/>
                <a:cs typeface="Inter"/>
                <a:sym typeface="Inter"/>
              </a:rPr>
              <a:t>châi khâ  —  Yes.</a:t>
            </a:r>
            <a:endParaRPr/>
          </a:p>
        </p:txBody>
      </p:sp>
      <p:sp>
        <p:nvSpPr>
          <p:cNvPr id="305" name="Google Shape;305;p10"/>
          <p:cNvSpPr/>
          <p:nvPr/>
        </p:nvSpPr>
        <p:spPr>
          <a:xfrm>
            <a:off x="791795" y="4489760"/>
            <a:ext cx="1097400" cy="292500"/>
          </a:xfrm>
          <a:prstGeom prst="roundRect">
            <a:avLst>
              <a:gd fmla="val 30000" name="adj"/>
            </a:avLst>
          </a:prstGeom>
          <a:solidFill>
            <a:srgbClr val="A052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Learner</a:t>
            </a:r>
            <a:endParaRPr/>
          </a:p>
        </p:txBody>
      </p:sp>
      <p:sp>
        <p:nvSpPr>
          <p:cNvPr id="306" name="Google Shape;306;p10"/>
          <p:cNvSpPr txBox="1"/>
          <p:nvPr/>
        </p:nvSpPr>
        <p:spPr>
          <a:xfrm>
            <a:off x="2011755" y="4366290"/>
            <a:ext cx="5303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A0522D"/>
                </a:solidFill>
              </a:rPr>
              <a:t>ขอบคุณครับ</a:t>
            </a:r>
            <a:endParaRPr>
              <a:solidFill>
                <a:srgbClr val="A0522D"/>
              </a:solidFill>
            </a:endParaRPr>
          </a:p>
        </p:txBody>
      </p:sp>
      <p:sp>
        <p:nvSpPr>
          <p:cNvPr id="307" name="Google Shape;307;p10"/>
          <p:cNvSpPr txBox="1"/>
          <p:nvPr/>
        </p:nvSpPr>
        <p:spPr>
          <a:xfrm>
            <a:off x="2011693" y="4759532"/>
            <a:ext cx="530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A4E46"/>
                </a:solidFill>
                <a:latin typeface="Inter"/>
                <a:ea typeface="Inter"/>
                <a:cs typeface="Inter"/>
                <a:sym typeface="Inter"/>
              </a:rPr>
              <a:t>khàawp-khun khráp  —  Thank you.</a:t>
            </a:r>
            <a:endParaRPr/>
          </a:p>
        </p:txBody>
      </p:sp>
      <p:sp>
        <p:nvSpPr>
          <p:cNvPr id="308" name="Google Shape;308;p10"/>
          <p:cNvSpPr/>
          <p:nvPr/>
        </p:nvSpPr>
        <p:spPr>
          <a:xfrm>
            <a:off x="731633" y="5253290"/>
            <a:ext cx="1097400" cy="292500"/>
          </a:xfrm>
          <a:prstGeom prst="roundRect">
            <a:avLst>
              <a:gd fmla="val 30000" name="adj"/>
            </a:avLst>
          </a:prstGeom>
          <a:solidFill>
            <a:srgbClr val="3B7A7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Staff</a:t>
            </a:r>
            <a:endParaRPr/>
          </a:p>
        </p:txBody>
      </p:sp>
      <p:sp>
        <p:nvSpPr>
          <p:cNvPr id="309" name="Google Shape;309;p10"/>
          <p:cNvSpPr txBox="1"/>
          <p:nvPr/>
        </p:nvSpPr>
        <p:spPr>
          <a:xfrm>
            <a:off x="2011680" y="5175433"/>
            <a:ext cx="5303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B7A72"/>
                </a:solidFill>
              </a:rPr>
              <a:t>ไม่เป็นไรค่ะ</a:t>
            </a:r>
            <a:endParaRPr>
              <a:solidFill>
                <a:srgbClr val="3B7A72"/>
              </a:solidFill>
            </a:endParaRPr>
          </a:p>
        </p:txBody>
      </p:sp>
      <p:sp>
        <p:nvSpPr>
          <p:cNvPr id="310" name="Google Shape;310;p10"/>
          <p:cNvSpPr txBox="1"/>
          <p:nvPr/>
        </p:nvSpPr>
        <p:spPr>
          <a:xfrm>
            <a:off x="2011693" y="5571112"/>
            <a:ext cx="530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A4E46"/>
                </a:solidFill>
                <a:latin typeface="Inter"/>
                <a:ea typeface="Inter"/>
                <a:cs typeface="Inter"/>
                <a:sym typeface="Inter"/>
              </a:rPr>
              <a:t>mâi bpen rai khâ  —  No problem.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6F0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0" y="0"/>
            <a:ext cx="8128101" cy="50800"/>
          </a:xfrm>
          <a:prstGeom prst="rect">
            <a:avLst/>
          </a:prstGeom>
          <a:solidFill>
            <a:srgbClr val="B896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 txBox="1"/>
          <p:nvPr/>
        </p:nvSpPr>
        <p:spPr>
          <a:xfrm>
            <a:off x="1137970" y="1015518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C2420"/>
                </a:solidFill>
                <a:latin typeface="Inter"/>
                <a:ea typeface="Inter"/>
                <a:cs typeface="Inter"/>
                <a:sym typeface="Inter"/>
              </a:rPr>
              <a:t>Recap</a:t>
            </a:r>
            <a:endParaRPr/>
          </a:p>
        </p:txBody>
      </p:sp>
      <p:sp>
        <p:nvSpPr>
          <p:cNvPr id="318" name="Google Shape;318;p11"/>
          <p:cNvSpPr txBox="1"/>
          <p:nvPr/>
        </p:nvSpPr>
        <p:spPr>
          <a:xfrm>
            <a:off x="731529" y="4371872"/>
            <a:ext cx="5121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7A72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/>
          </a:p>
        </p:txBody>
      </p:sp>
      <p:sp>
        <p:nvSpPr>
          <p:cNvPr id="319" name="Google Shape;319;p11"/>
          <p:cNvSpPr txBox="1"/>
          <p:nvPr/>
        </p:nvSpPr>
        <p:spPr>
          <a:xfrm>
            <a:off x="1097280" y="1776945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C2420"/>
                </a:solidFill>
                <a:latin typeface="Inter"/>
                <a:ea typeface="Inter"/>
                <a:cs typeface="Inter"/>
                <a:sym typeface="Inter"/>
              </a:rPr>
              <a:t>Start with สวัสดี and always add a polite ending</a:t>
            </a:r>
            <a:endParaRPr/>
          </a:p>
        </p:txBody>
      </p:sp>
      <p:sp>
        <p:nvSpPr>
          <p:cNvPr id="320" name="Google Shape;320;p11"/>
          <p:cNvSpPr txBox="1"/>
          <p:nvPr/>
        </p:nvSpPr>
        <p:spPr>
          <a:xfrm>
            <a:off x="1097280" y="2437455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C2420"/>
                </a:solidFill>
                <a:latin typeface="Inter"/>
                <a:ea typeface="Inter"/>
                <a:cs typeface="Inter"/>
                <a:sym typeface="Inter"/>
              </a:rPr>
              <a:t>Use ขอบคุณ to close warmly and ขอโทษ to repair politely</a:t>
            </a:r>
            <a:endParaRPr/>
          </a:p>
        </p:txBody>
      </p:sp>
      <p:sp>
        <p:nvSpPr>
          <p:cNvPr id="321" name="Google Shape;321;p11"/>
          <p:cNvSpPr txBox="1"/>
          <p:nvPr/>
        </p:nvSpPr>
        <p:spPr>
          <a:xfrm>
            <a:off x="731520" y="237744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1"/>
          <p:cNvSpPr txBox="1"/>
          <p:nvPr/>
        </p:nvSpPr>
        <p:spPr>
          <a:xfrm>
            <a:off x="1005855" y="309794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C2420"/>
                </a:solidFill>
                <a:latin typeface="Inter"/>
                <a:ea typeface="Inter"/>
                <a:cs typeface="Inter"/>
                <a:sym typeface="Inter"/>
              </a:rPr>
              <a:t>Learn polite endings as social meaning, not decoration</a:t>
            </a:r>
            <a:endParaRPr/>
          </a:p>
        </p:txBody>
      </p:sp>
      <p:sp>
        <p:nvSpPr>
          <p:cNvPr id="323" name="Google Shape;323;p11"/>
          <p:cNvSpPr txBox="1"/>
          <p:nvPr/>
        </p:nvSpPr>
        <p:spPr>
          <a:xfrm>
            <a:off x="731520" y="297180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1"/>
          <p:cNvSpPr txBox="1"/>
          <p:nvPr/>
        </p:nvSpPr>
        <p:spPr>
          <a:xfrm>
            <a:off x="1097280" y="3686175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C2420"/>
                </a:solidFill>
                <a:latin typeface="Inter"/>
                <a:ea typeface="Inter"/>
                <a:cs typeface="Inter"/>
                <a:sym typeface="Inter"/>
              </a:rPr>
              <a:t>Use ใช่ and ไม่ใช่ for answers, ไม่เป็นไร to calm the moment</a:t>
            </a:r>
            <a:endParaRPr/>
          </a:p>
        </p:txBody>
      </p:sp>
      <p:sp>
        <p:nvSpPr>
          <p:cNvPr id="325" name="Google Shape;325;p11"/>
          <p:cNvSpPr txBox="1"/>
          <p:nvPr/>
        </p:nvSpPr>
        <p:spPr>
          <a:xfrm>
            <a:off x="731520" y="356616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1"/>
          <p:cNvSpPr txBox="1"/>
          <p:nvPr/>
        </p:nvSpPr>
        <p:spPr>
          <a:xfrm>
            <a:off x="1005855" y="4412835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C2420"/>
                </a:solidFill>
                <a:latin typeface="Inter"/>
                <a:ea typeface="Inter"/>
                <a:cs typeface="Inter"/>
                <a:sym typeface="Inter"/>
              </a:rPr>
              <a:t>Practise the full exchange — greeting to thank-you to no-problem</a:t>
            </a:r>
            <a:endParaRPr/>
          </a:p>
        </p:txBody>
      </p:sp>
      <p:sp>
        <p:nvSpPr>
          <p:cNvPr id="327" name="Google Shape;327;p11"/>
          <p:cNvSpPr txBox="1"/>
          <p:nvPr/>
        </p:nvSpPr>
        <p:spPr>
          <a:xfrm>
            <a:off x="731529" y="3693972"/>
            <a:ext cx="5121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7A72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/>
          </a:p>
        </p:txBody>
      </p:sp>
      <p:sp>
        <p:nvSpPr>
          <p:cNvPr id="328" name="Google Shape;328;p11"/>
          <p:cNvSpPr txBox="1"/>
          <p:nvPr/>
        </p:nvSpPr>
        <p:spPr>
          <a:xfrm>
            <a:off x="731529" y="3053935"/>
            <a:ext cx="5121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7A72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/>
          </a:p>
        </p:txBody>
      </p:sp>
      <p:sp>
        <p:nvSpPr>
          <p:cNvPr id="329" name="Google Shape;329;p11"/>
          <p:cNvSpPr txBox="1"/>
          <p:nvPr/>
        </p:nvSpPr>
        <p:spPr>
          <a:xfrm>
            <a:off x="731529" y="2396497"/>
            <a:ext cx="5121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7A72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/>
          </a:p>
        </p:txBody>
      </p:sp>
      <p:sp>
        <p:nvSpPr>
          <p:cNvPr id="330" name="Google Shape;330;p11"/>
          <p:cNvSpPr txBox="1"/>
          <p:nvPr/>
        </p:nvSpPr>
        <p:spPr>
          <a:xfrm>
            <a:off x="731529" y="1821210"/>
            <a:ext cx="5121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7A72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6F0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0" y="0"/>
            <a:ext cx="8128101" cy="76200"/>
          </a:xfrm>
          <a:prstGeom prst="rect">
            <a:avLst/>
          </a:prstGeom>
          <a:solidFill>
            <a:srgbClr val="B896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 txBox="1"/>
          <p:nvPr/>
        </p:nvSpPr>
        <p:spPr>
          <a:xfrm>
            <a:off x="731520" y="137160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B8963E"/>
                </a:solidFill>
                <a:latin typeface="Inter"/>
                <a:ea typeface="Inter"/>
                <a:cs typeface="Inter"/>
                <a:sym typeface="Inter"/>
              </a:rPr>
              <a:t>M01-L001</a:t>
            </a:r>
            <a:endParaRPr/>
          </a:p>
        </p:txBody>
      </p:sp>
      <p:sp>
        <p:nvSpPr>
          <p:cNvPr id="338" name="Google Shape;338;p12"/>
          <p:cNvSpPr txBox="1"/>
          <p:nvPr/>
        </p:nvSpPr>
        <p:spPr>
          <a:xfrm>
            <a:off x="731520" y="1920240"/>
            <a:ext cx="685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C2420"/>
                </a:solidFill>
                <a:latin typeface="Inter"/>
                <a:ea typeface="Inter"/>
                <a:cs typeface="Inter"/>
                <a:sym typeface="Inter"/>
              </a:rPr>
              <a:t>You can now greet, thank,</a:t>
            </a:r>
            <a:br>
              <a:rPr b="1" i="0" lang="en-US" sz="3200" u="none" cap="none" strike="noStrike">
                <a:solidFill>
                  <a:srgbClr val="2C242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i="0" lang="en-US" sz="3200" u="none" cap="none" strike="noStrike">
                <a:solidFill>
                  <a:srgbClr val="2C2420"/>
                </a:solidFill>
                <a:latin typeface="Inter"/>
                <a:ea typeface="Inter"/>
                <a:cs typeface="Inter"/>
                <a:sym typeface="Inter"/>
              </a:rPr>
              <a:t>apologise, and respond politely.</a:t>
            </a:r>
            <a:endParaRPr/>
          </a:p>
        </p:txBody>
      </p:sp>
      <p:sp>
        <p:nvSpPr>
          <p:cNvPr id="339" name="Google Shape;339;p12"/>
          <p:cNvSpPr txBox="1"/>
          <p:nvPr/>
        </p:nvSpPr>
        <p:spPr>
          <a:xfrm>
            <a:off x="731520" y="3200400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A4E46"/>
                </a:solidFill>
                <a:latin typeface="Inter"/>
                <a:ea typeface="Inter"/>
                <a:cs typeface="Inter"/>
                <a:sym typeface="Inter"/>
              </a:rPr>
              <a:t>You have the smallest courtesy toolkit that already works.</a:t>
            </a:r>
            <a:endParaRPr/>
          </a:p>
        </p:txBody>
      </p:sp>
      <p:sp>
        <p:nvSpPr>
          <p:cNvPr id="340" name="Google Shape;340;p12"/>
          <p:cNvSpPr txBox="1"/>
          <p:nvPr/>
        </p:nvSpPr>
        <p:spPr>
          <a:xfrm>
            <a:off x="731520" y="3657600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A4E46"/>
                </a:solidFill>
                <a:latin typeface="Inter"/>
                <a:ea typeface="Inter"/>
                <a:cs typeface="Inter"/>
                <a:sym typeface="Inter"/>
              </a:rPr>
              <a:t>Next lesson: names and countries — introducing yourself.</a:t>
            </a:r>
            <a:endParaRPr/>
          </a:p>
        </p:txBody>
      </p:sp>
      <p:sp>
        <p:nvSpPr>
          <p:cNvPr id="341" name="Google Shape;341;p12"/>
          <p:cNvSpPr txBox="1"/>
          <p:nvPr/>
        </p:nvSpPr>
        <p:spPr>
          <a:xfrm>
            <a:off x="731520" y="530352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A7E76"/>
                </a:solidFill>
                <a:latin typeface="Inter"/>
                <a:ea typeface="Inter"/>
                <a:cs typeface="Inter"/>
                <a:sym typeface="Inter"/>
              </a:rPr>
              <a:t>Immersion Thai with Nine</a:t>
            </a:r>
            <a:endParaRPr/>
          </a:p>
        </p:txBody>
      </p:sp>
      <p:sp>
        <p:nvSpPr>
          <p:cNvPr id="342" name="Google Shape;342;p12"/>
          <p:cNvSpPr/>
          <p:nvPr/>
        </p:nvSpPr>
        <p:spPr>
          <a:xfrm>
            <a:off x="731520" y="5760720"/>
            <a:ext cx="1828800" cy="38100"/>
          </a:xfrm>
          <a:prstGeom prst="rect">
            <a:avLst/>
          </a:prstGeom>
          <a:solidFill>
            <a:srgbClr val="B896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