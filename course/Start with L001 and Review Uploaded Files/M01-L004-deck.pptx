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762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8963E"/>
                </a:solidFill>
                <a:latin typeface="Inter"/>
              </a:rPr>
              <a:t>Module 1 — First Contact and Courtesy  ·  Level A0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5A4E46"/>
                </a:solidFill>
                <a:latin typeface="Inter"/>
              </a:rPr>
              <a:t>M01-L004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6858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 i="0">
                <a:solidFill>
                  <a:srgbClr val="2C2420"/>
                </a:solidFill>
                <a:latin typeface="Inter"/>
              </a:rPr>
              <a:t>Numbers 0 to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8A7E76"/>
                </a:solidFill>
                <a:latin typeface="Inter"/>
              </a:rPr>
              <a:t>Immersion Thai with Nine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760720"/>
            <a:ext cx="1828800" cy="381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What you will learn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234440"/>
            <a:ext cx="365760" cy="365760"/>
          </a:xfrm>
          <a:prstGeom prst="ellipse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188720"/>
            <a:ext cx="6217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Say Thai digits from 0 to 10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874520"/>
            <a:ext cx="365760" cy="365760"/>
          </a:xfrm>
          <a:prstGeom prst="ellipse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28800"/>
            <a:ext cx="6217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Use numbers for age, room numbers, and basic counting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514600"/>
            <a:ext cx="365760" cy="365760"/>
          </a:xfrm>
          <a:prstGeom prst="ellipse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68880"/>
            <a:ext cx="6217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Ask เบอร์อะไร (what number?)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154680"/>
            <a:ext cx="365760" cy="365760"/>
          </a:xfrm>
          <a:prstGeom prst="ellipse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08960"/>
            <a:ext cx="6217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Say your age with ฉันอายุ...ปี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0116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Numbers 0 to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822960"/>
            <a:ext cx="6583680" cy="777240"/>
          </a:xfrm>
          <a:prstGeom prst="roundRect">
            <a:avLst>
              <a:gd name="adj" fmla="val 5000"/>
            </a:avLst>
          </a:prstGeom>
          <a:solidFill>
            <a:srgbClr val="FDF5E6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932688"/>
            <a:ext cx="502920" cy="502920"/>
          </a:xfrm>
          <a:prstGeom prst="ellipse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8686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ศูนย์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9601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5A4E46"/>
                </a:solidFill>
                <a:latin typeface="Inter"/>
              </a:rPr>
              <a:t>sǔun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96012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8A7E76"/>
                </a:solidFill>
                <a:latin typeface="Inter"/>
              </a:rPr>
              <a:t>0 — zero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55064"/>
            <a:ext cx="658368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1764792"/>
            <a:ext cx="502920" cy="502920"/>
          </a:xfrm>
          <a:prstGeom prst="ellipse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700784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หนึ่ง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1792224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5A4E46"/>
                </a:solidFill>
                <a:latin typeface="Inter"/>
              </a:rPr>
              <a:t>nʉ̀ng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1792224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8A7E76"/>
                </a:solidFill>
                <a:latin typeface="Inter"/>
              </a:rPr>
              <a:t>1 — 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487168"/>
            <a:ext cx="6583680" cy="777240"/>
          </a:xfrm>
          <a:prstGeom prst="roundRect">
            <a:avLst>
              <a:gd name="adj" fmla="val 5000"/>
            </a:avLst>
          </a:prstGeom>
          <a:solidFill>
            <a:srgbClr val="FDF5E6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2596896"/>
            <a:ext cx="502920" cy="502920"/>
          </a:xfrm>
          <a:prstGeom prst="ellipse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532888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สอง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262432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5A4E46"/>
                </a:solidFill>
                <a:latin typeface="Inter"/>
              </a:rPr>
              <a:t>sǎawng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62432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8A7E76"/>
                </a:solidFill>
                <a:latin typeface="Inter"/>
              </a:rPr>
              <a:t>2 — two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319272"/>
            <a:ext cx="658368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8" y="3429000"/>
            <a:ext cx="502920" cy="502920"/>
          </a:xfrm>
          <a:prstGeom prst="ellipse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364992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สาม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3456432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5A4E46"/>
                </a:solidFill>
                <a:latin typeface="Inter"/>
              </a:rPr>
              <a:t>sǎam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345643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8A7E76"/>
                </a:solidFill>
                <a:latin typeface="Inter"/>
              </a:rPr>
              <a:t>3 — three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151376"/>
            <a:ext cx="6583680" cy="777240"/>
          </a:xfrm>
          <a:prstGeom prst="roundRect">
            <a:avLst>
              <a:gd name="adj" fmla="val 5000"/>
            </a:avLst>
          </a:prstGeom>
          <a:solidFill>
            <a:srgbClr val="FDF5E6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1248" y="4261104"/>
            <a:ext cx="502920" cy="502920"/>
          </a:xfrm>
          <a:prstGeom prst="ellipse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197096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สี่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40" y="4288536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5A4E46"/>
                </a:solidFill>
                <a:latin typeface="Inter"/>
              </a:rPr>
              <a:t>sìi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4288536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8A7E76"/>
                </a:solidFill>
                <a:latin typeface="Inter"/>
              </a:rPr>
              <a:t>4 — four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983480"/>
            <a:ext cx="658368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1248" y="5093208"/>
            <a:ext cx="502920" cy="502920"/>
          </a:xfrm>
          <a:prstGeom prst="ellipse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502920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ห้า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40" y="51206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5A4E46"/>
                </a:solidFill>
                <a:latin typeface="Inter"/>
              </a:rPr>
              <a:t>hâa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512064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8A7E76"/>
                </a:solidFill>
                <a:latin typeface="Inter"/>
              </a:rPr>
              <a:t>5 — five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0116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Numbers 6 to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822960"/>
            <a:ext cx="6583680" cy="777240"/>
          </a:xfrm>
          <a:prstGeom prst="roundRect">
            <a:avLst>
              <a:gd name="adj" fmla="val 5000"/>
            </a:avLst>
          </a:prstGeom>
          <a:solidFill>
            <a:srgbClr val="FDF5E6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932688"/>
            <a:ext cx="502920" cy="502920"/>
          </a:xfrm>
          <a:prstGeom prst="ellipse">
            <a:avLst/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8686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หก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9601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5A4E46"/>
                </a:solidFill>
                <a:latin typeface="Inter"/>
              </a:rPr>
              <a:t>hòk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96012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8A7E76"/>
                </a:solidFill>
                <a:latin typeface="Inter"/>
              </a:rPr>
              <a:t>6 — six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55064"/>
            <a:ext cx="658368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1764792"/>
            <a:ext cx="502920" cy="502920"/>
          </a:xfrm>
          <a:prstGeom prst="ellipse">
            <a:avLst/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700784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เจ็ด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1792224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5A4E46"/>
                </a:solidFill>
                <a:latin typeface="Inter"/>
              </a:rPr>
              <a:t>jèt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1792224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8A7E76"/>
                </a:solidFill>
                <a:latin typeface="Inter"/>
              </a:rPr>
              <a:t>7 — seven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487168"/>
            <a:ext cx="6583680" cy="777240"/>
          </a:xfrm>
          <a:prstGeom prst="roundRect">
            <a:avLst>
              <a:gd name="adj" fmla="val 5000"/>
            </a:avLst>
          </a:prstGeom>
          <a:solidFill>
            <a:srgbClr val="FDF5E6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2596896"/>
            <a:ext cx="502920" cy="502920"/>
          </a:xfrm>
          <a:prstGeom prst="ellipse">
            <a:avLst/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532888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แปด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262432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5A4E46"/>
                </a:solidFill>
                <a:latin typeface="Inter"/>
              </a:rPr>
              <a:t>bpàaet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62432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8A7E76"/>
                </a:solidFill>
                <a:latin typeface="Inter"/>
              </a:rPr>
              <a:t>8 — eight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319272"/>
            <a:ext cx="658368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8" y="3429000"/>
            <a:ext cx="502920" cy="502920"/>
          </a:xfrm>
          <a:prstGeom prst="ellipse">
            <a:avLst/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364992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เก้า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3456432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5A4E46"/>
                </a:solidFill>
                <a:latin typeface="Inter"/>
              </a:rPr>
              <a:t>gâo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345643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8A7E76"/>
                </a:solidFill>
                <a:latin typeface="Inter"/>
              </a:rPr>
              <a:t>9 — nine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151376"/>
            <a:ext cx="6583680" cy="777240"/>
          </a:xfrm>
          <a:prstGeom prst="roundRect">
            <a:avLst>
              <a:gd name="adj" fmla="val 5000"/>
            </a:avLst>
          </a:prstGeom>
          <a:solidFill>
            <a:srgbClr val="FDF5E6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1248" y="4261104"/>
            <a:ext cx="502920" cy="502920"/>
          </a:xfrm>
          <a:prstGeom prst="ellipse">
            <a:avLst/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197096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สิบ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40" y="4288536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5A4E46"/>
                </a:solidFill>
                <a:latin typeface="Inter"/>
              </a:rPr>
              <a:t>sìp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4288536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8A7E76"/>
                </a:solidFill>
                <a:latin typeface="Inter"/>
              </a:rPr>
              <a:t>10 — ten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257800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A0522D"/>
                </a:solidFill>
                <a:latin typeface="Inter"/>
              </a:rPr>
              <a:t>Practise: count from 0 to 10 slowly, then speed 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0116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Ask what number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914400"/>
            <a:ext cx="59436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188720"/>
            <a:ext cx="73152" cy="109728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097280"/>
            <a:ext cx="5303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 i="0">
                <a:solidFill>
                  <a:srgbClr val="2C2420"/>
                </a:solidFill>
                <a:latin typeface="Noto Sans Thai"/>
              </a:rPr>
              <a:t>เบอร์อะไร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69164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5A4E46"/>
                </a:solidFill>
                <a:latin typeface="Inter"/>
              </a:rPr>
              <a:t>bəə à-rai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05740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8A7E76"/>
                </a:solidFill>
                <a:latin typeface="Inter"/>
              </a:rPr>
              <a:t>what number?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Use this to ask for a room number, phone number, or any number.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65836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3657600"/>
            <a:ext cx="73152" cy="822960"/>
          </a:xfrm>
          <a:prstGeom prst="rect">
            <a:avLst/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2044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3B7A72"/>
                </a:solidFill>
                <a:latin typeface="Inter"/>
              </a:rP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9476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ห้องเบอร์อะไรครับ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062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hâwng bəə à-rai khráp  —  What room number?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0116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Say your 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914400"/>
            <a:ext cx="6583680" cy="1463040"/>
          </a:xfrm>
          <a:prstGeom prst="roundRect">
            <a:avLst>
              <a:gd name="adj" fmla="val 5000"/>
            </a:avLst>
          </a:prstGeom>
          <a:solidFill>
            <a:srgbClr val="FDF5E6"/>
          </a:solidFill>
          <a:ln w="12700">
            <a:solidFill>
              <a:srgbClr val="D4B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097280"/>
            <a:ext cx="73152" cy="109728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9601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8963E"/>
                </a:solidFill>
                <a:latin typeface="Inter"/>
              </a:rPr>
              <a:t>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80160"/>
            <a:ext cx="5486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2C2420"/>
                </a:solidFill>
                <a:latin typeface="Noto Sans Thai"/>
              </a:rPr>
              <a:t>ฉัน/ผม  อายุ  ___  ปี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830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chǎn/phǒm  aa-yú  ___  bpii  —  I am ___ years 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31089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788920"/>
            <a:ext cx="73152" cy="640080"/>
          </a:xfrm>
          <a:prstGeom prst="rect">
            <a:avLst/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69748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อายุ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1089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aa-yú  —  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31089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840480"/>
            <a:ext cx="73152" cy="640080"/>
          </a:xfrm>
          <a:prstGeom prst="rect">
            <a:avLst/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7490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ปี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160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bpii  —  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6974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A0522D"/>
                </a:solidFill>
                <a:latin typeface="Inter"/>
              </a:rPr>
              <a:t>Examples: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0632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2C2420"/>
                </a:solidFill>
                <a:latin typeface="Noto Sans Thai"/>
              </a:rPr>
              <a:t>ฉันอายุห้าปี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1089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8A7E76"/>
                </a:solidFill>
                <a:latin typeface="Inter"/>
              </a:rPr>
              <a:t>5 years 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5204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2C2420"/>
                </a:solidFill>
                <a:latin typeface="Noto Sans Thai"/>
              </a:rPr>
              <a:t>ผมอายุเก้าปี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5661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8A7E76"/>
                </a:solidFill>
                <a:latin typeface="Inter"/>
              </a:rPr>
              <a:t>9 years 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9776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2C2420"/>
                </a:solidFill>
                <a:latin typeface="Noto Sans Thai"/>
              </a:rPr>
              <a:t>ฉันอายุสิบปี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0233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8A7E76"/>
                </a:solidFill>
                <a:latin typeface="Inter"/>
              </a:rPr>
              <a:t>10 years old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0116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Counting drill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Say each number aloud — check your pronunciation: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B8963E"/>
                </a:solidFill>
                <a:latin typeface="Inter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2801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2C2420"/>
                </a:solidFill>
                <a:latin typeface="Noto Sans Thai"/>
              </a:rPr>
              <a:t>ศูนย์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18872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23444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3B7A72"/>
                </a:solidFill>
                <a:latin typeface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2801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2C2420"/>
                </a:solidFill>
                <a:latin typeface="Noto Sans Thai"/>
              </a:rPr>
              <a:t>หนึ่ง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18872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23444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A0522D"/>
                </a:solidFill>
                <a:latin typeface="Inte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2801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2C2420"/>
                </a:solidFill>
                <a:latin typeface="Noto Sans Thai"/>
              </a:rPr>
              <a:t>สอง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28600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33172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B8963E"/>
                </a:solidFill>
                <a:latin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37744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2C2420"/>
                </a:solidFill>
                <a:latin typeface="Noto Sans Thai"/>
              </a:rPr>
              <a:t>สาม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228600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233172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3B7A72"/>
                </a:solidFill>
                <a:latin typeface="Inter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37744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2C2420"/>
                </a:solidFill>
                <a:latin typeface="Noto Sans Thai"/>
              </a:rPr>
              <a:t>สี่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228600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233172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A0522D"/>
                </a:solidFill>
                <a:latin typeface="Inter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237744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2C2420"/>
                </a:solidFill>
                <a:latin typeface="Noto Sans Thai"/>
              </a:rPr>
              <a:t>ห้า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3832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42900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B8963E"/>
                </a:solidFill>
                <a:latin typeface="Inter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347472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2C2420"/>
                </a:solidFill>
                <a:latin typeface="Noto Sans Thai"/>
              </a:rPr>
              <a:t>หก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360" y="33832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342900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3B7A72"/>
                </a:solidFill>
                <a:latin typeface="Inter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47472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2C2420"/>
                </a:solidFill>
                <a:latin typeface="Noto Sans Thai"/>
              </a:rPr>
              <a:t>เจ็ด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33832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342900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A0522D"/>
                </a:solidFill>
                <a:latin typeface="Inter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347472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2C2420"/>
                </a:solidFill>
                <a:latin typeface="Noto Sans Thai"/>
              </a:rPr>
              <a:t>แปด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48056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52628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B8963E"/>
                </a:solidFill>
                <a:latin typeface="Inter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457200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2C2420"/>
                </a:solidFill>
                <a:latin typeface="Noto Sans Thai"/>
              </a:rPr>
              <a:t>เก้า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80360" y="448056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71800" y="452628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3B7A72"/>
                </a:solidFill>
                <a:latin typeface="Inter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57200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2C2420"/>
                </a:solidFill>
                <a:latin typeface="Noto Sans Thai"/>
              </a:rPr>
              <a:t>สิบ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0116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Numbers in real situations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822960"/>
            <a:ext cx="65836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960120"/>
            <a:ext cx="1645920" cy="292608"/>
          </a:xfrm>
          <a:prstGeom prst="roundRect">
            <a:avLst>
              <a:gd name="adj" fmla="val 30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Room number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325880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ห้องเบอร์สามครับ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hâwng bəə sǎam khráp  —  Room number 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95728"/>
            <a:ext cx="65836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532888"/>
            <a:ext cx="1645920" cy="292608"/>
          </a:xfrm>
          <a:prstGeom prst="roundRect">
            <a:avLst>
              <a:gd name="adj" fmla="val 30000"/>
            </a:avLst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9864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ฉันอายุเจ็ดปีค่ะ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10128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chǎn aa-yú jèt bpii khâ  —  I am 7 years old.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68496"/>
            <a:ext cx="65836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4105656"/>
            <a:ext cx="1645920" cy="292608"/>
          </a:xfrm>
          <a:prstGeom prst="roundRect">
            <a:avLst>
              <a:gd name="adj" fmla="val 30000"/>
            </a:avLst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Counting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71416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หนึ่ง สอง สาม สี่ ห้า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82896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nʉ̀ng sǎawng sǎam sìi hâa  —  1, 2, 3, 4,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Roleplay: What number?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1">
                <a:solidFill>
                  <a:srgbClr val="5A4E46"/>
                </a:solidFill>
                <a:latin typeface="Inter"/>
              </a:rPr>
              <a:t>At a hotel check-in — asking about room numbers and 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097280" cy="292608"/>
          </a:xfrm>
          <a:prstGeom prst="roundRect">
            <a:avLst>
              <a:gd name="adj" fmla="val 30000"/>
            </a:avLst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Staff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05156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สวัสดีค่ะ ห้องเบอร์อะไรคะ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444752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sà-wàt-dii khâ hâwng bəə à-rai khá  —  Hello. What room number?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1097280" cy="292608"/>
          </a:xfrm>
          <a:prstGeom prst="roundRect">
            <a:avLst>
              <a:gd name="adj" fmla="val 30000"/>
            </a:avLst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Guest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92024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ห้องเบอร์ห้าครับ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313432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hâwng bəə hâa khráp  —  Room number 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1097280" cy="292608"/>
          </a:xfrm>
          <a:prstGeom prst="roundRect">
            <a:avLst>
              <a:gd name="adj" fmla="val 30000"/>
            </a:avLst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Staff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78892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คุณอายุเท่าไหร่คะ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182112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khun aa-yú thâo-rài khá  —  How old are you?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1097280" cy="292608"/>
          </a:xfrm>
          <a:prstGeom prst="roundRect">
            <a:avLst>
              <a:gd name="adj" fmla="val 30000"/>
            </a:avLst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Guest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65760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ผมอายุสิบปีครับ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050792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phǒm aa-yú sìp bpii khráp  —  I am 10 years old.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1097280" cy="292608"/>
          </a:xfrm>
          <a:prstGeom prst="roundRect">
            <a:avLst>
              <a:gd name="adj" fmla="val 30000"/>
            </a:avLst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Staff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52628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ขอบคุณค่ะ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919472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khàawp-khun khâ  —  Thank you.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Quick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Can you say these numbers in Thai?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5836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B8963E"/>
                </a:solidFill>
                <a:latin typeface="Inter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173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2C2420"/>
                </a:solidFill>
                <a:latin typeface="Inter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4173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8A7E76"/>
                </a:solidFill>
                <a:latin typeface="Noto Sans Thai"/>
              </a:rPr>
              <a:t>→  ___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84832"/>
            <a:ext cx="65836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21992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B8963E"/>
                </a:solidFill>
                <a:latin typeface="Inter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22199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2C2420"/>
                </a:solidFill>
                <a:latin typeface="Inter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22199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8A7E76"/>
                </a:solidFill>
                <a:latin typeface="Noto Sans Thai"/>
              </a:rPr>
              <a:t>→  ___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9504"/>
            <a:ext cx="65836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26664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B8963E"/>
                </a:solidFill>
                <a:latin typeface="Inter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26664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2C2420"/>
                </a:solidFill>
                <a:latin typeface="Inter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026664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8A7E76"/>
                </a:solidFill>
                <a:latin typeface="Noto Sans Thai"/>
              </a:rPr>
              <a:t>→  ___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94176"/>
            <a:ext cx="65836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31336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B8963E"/>
                </a:solidFill>
                <a:latin typeface="Inter"/>
              </a:rPr>
              <a:t>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831336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2C2420"/>
                </a:solidFill>
                <a:latin typeface="Inter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831336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8A7E76"/>
                </a:solidFill>
                <a:latin typeface="Noto Sans Thai"/>
              </a:rPr>
              <a:t>→  ___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498848"/>
            <a:ext cx="65836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636008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B8963E"/>
                </a:solidFill>
                <a:latin typeface="Inter"/>
              </a:rPr>
              <a:t>5.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63600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2C2420"/>
                </a:solidFill>
                <a:latin typeface="Inter"/>
              </a:rPr>
              <a:t>Say your age: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636008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8A7E76"/>
                </a:solidFill>
                <a:latin typeface="Noto Sans Thai"/>
              </a:rPr>
              <a:t>ฉัน/ผม อายุ ___ ปี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3B7A72"/>
                </a:solidFill>
                <a:latin typeface="Inter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Count from ศูนย์ (0) to สิบ (10) confidently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3B7A72"/>
                </a:solidFill>
                <a:latin typeface="Inter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Ask เบอร์อะไร for any number you 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3B7A72"/>
                </a:solidFill>
                <a:latin typeface="Inter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Say your age with ฉัน/ผม อายุ...ปี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3B7A72"/>
                </a:solidFill>
                <a:latin typeface="Inter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7180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Use numbers in real situations: rooms, age, counting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762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8963E"/>
                </a:solidFill>
                <a:latin typeface="Inter"/>
              </a:rPr>
              <a:t>M01-L004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6858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2C2420"/>
                </a:solidFill>
                <a:latin typeface="Inter"/>
              </a:rPr>
              <a:t>You can now count, ask for numbers,
and say your age in Thai.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6858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0 to 10 — the digits you need for age, rooms, and basic counting.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6858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Module 1 continues with where/what questions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8A7E76"/>
                </a:solidFill>
                <a:latin typeface="Inter"/>
              </a:rPr>
              <a:t>Immersion Thai with Nine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760720"/>
            <a:ext cx="1828800" cy="381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