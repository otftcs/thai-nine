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762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8963E"/>
                </a:solidFill>
                <a:latin typeface="Inter"/>
              </a:rPr>
              <a:t>Module 1 — First Contact and Courtesy  ·  Level A0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5A4E46"/>
                </a:solidFill>
                <a:latin typeface="Inter"/>
              </a:rPr>
              <a:t>M01-L003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6858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>
                <a:solidFill>
                  <a:srgbClr val="2C2420"/>
                </a:solidFill>
                <a:latin typeface="Inter"/>
              </a:rPr>
              <a:t>Pronouns and Who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8A7E76"/>
                </a:solidFill>
                <a:latin typeface="Inter"/>
              </a:rPr>
              <a:t>Immersion Thai with Nine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760720"/>
            <a:ext cx="1828800" cy="381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What you will learn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34440"/>
            <a:ext cx="365760" cy="36576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88720"/>
            <a:ext cx="6217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Use basic pronouns: ฉัน, ผม, คุณ, เขา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74520"/>
            <a:ext cx="365760" cy="36576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28800"/>
            <a:ext cx="6217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Ask who someone is with ใคร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514600"/>
            <a:ext cx="365760" cy="36576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68880"/>
            <a:ext cx="6217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Identify people with นี่คือ...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154680"/>
            <a:ext cx="365760" cy="36576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6217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Confirm identity with คุณคือ...ใช่ไหม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Basic Thai pronouns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5A4E46"/>
                </a:solidFill>
                <a:latin typeface="Inter"/>
              </a:rPr>
              <a:t>Four pronouns for first-contact conversations: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6583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325880"/>
            <a:ext cx="1371600" cy="685800"/>
          </a:xfrm>
          <a:prstGeom prst="roundRect">
            <a:avLst>
              <a:gd name="adj" fmla="val 15000"/>
            </a:avLst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FFFFFF"/>
                </a:solidFill>
                <a:latin typeface="Noto Sans Thai"/>
              </a:rPr>
              <a:t>ฉัน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2801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C2420"/>
                </a:solidFill>
                <a:latin typeface="Inter"/>
              </a:rPr>
              <a:t>chǎn  —  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6459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8A7E76"/>
                </a:solidFill>
                <a:latin typeface="Inter"/>
              </a:rPr>
              <a:t>common / all-purpose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04288"/>
            <a:ext cx="6583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441448"/>
            <a:ext cx="1371600" cy="685800"/>
          </a:xfrm>
          <a:prstGeom prst="roundRect">
            <a:avLst>
              <a:gd name="adj" fmla="val 15000"/>
            </a:avLst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FFFFFF"/>
                </a:solidFill>
                <a:latin typeface="Noto Sans Thai"/>
              </a:rPr>
              <a:t>ผม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39572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C2420"/>
                </a:solidFill>
                <a:latin typeface="Inter"/>
              </a:rPr>
              <a:t>phǒm  —  I (male)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76148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8A7E76"/>
                </a:solidFill>
                <a:latin typeface="Inter"/>
              </a:rPr>
              <a:t>male speaker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19856"/>
            <a:ext cx="6583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557016"/>
            <a:ext cx="1371600" cy="685800"/>
          </a:xfrm>
          <a:prstGeom prst="roundRect">
            <a:avLst>
              <a:gd name="adj" fmla="val 15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FFFFFF"/>
                </a:solidFill>
                <a:latin typeface="Noto Sans Thai"/>
              </a:rPr>
              <a:t>คุณ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511296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C2420"/>
                </a:solidFill>
                <a:latin typeface="Inter"/>
              </a:rPr>
              <a:t>khun  — 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877056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8A7E76"/>
                </a:solidFill>
                <a:latin typeface="Inter"/>
              </a:rPr>
              <a:t>polite address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35424"/>
            <a:ext cx="6583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4672584"/>
            <a:ext cx="1371600" cy="685800"/>
          </a:xfrm>
          <a:prstGeom prst="roundRect">
            <a:avLst>
              <a:gd name="adj" fmla="val 15000"/>
            </a:avLst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FFFFFF"/>
                </a:solidFill>
                <a:latin typeface="Noto Sans Thai"/>
              </a:rPr>
              <a:t>เขา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626864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C2420"/>
                </a:solidFill>
                <a:latin typeface="Inter"/>
              </a:rPr>
              <a:t>khǎo  —  he / she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992624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8A7E76"/>
                </a:solidFill>
                <a:latin typeface="Inter"/>
              </a:rPr>
              <a:t>third person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Ask who someone 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914400"/>
            <a:ext cx="59436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188720"/>
            <a:ext cx="73152" cy="109728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097280"/>
            <a:ext cx="5303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 i="0">
                <a:solidFill>
                  <a:srgbClr val="2C2420"/>
                </a:solidFill>
                <a:latin typeface="Noto Sans Thai"/>
              </a:rPr>
              <a:t>ใคร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9164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khrai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05740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8A7E76"/>
                </a:solidFill>
                <a:latin typeface="Inter"/>
              </a:rPr>
              <a:t>who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Use ใคร to ask about identity — who is this person?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6583680" cy="1280160"/>
          </a:xfrm>
          <a:prstGeom prst="roundRect">
            <a:avLst>
              <a:gd name="adj" fmla="val 5000"/>
            </a:avLst>
          </a:prstGeom>
          <a:solidFill>
            <a:srgbClr val="FDF5E6"/>
          </a:solidFill>
          <a:ln w="12700">
            <a:solidFill>
              <a:srgbClr val="D4B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3657600"/>
            <a:ext cx="73152" cy="9144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เขาคือใคร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690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khǎo khʉʉ khrai  —  who is he/she?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Identify people with นี่คือ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914400"/>
            <a:ext cx="6583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051560"/>
            <a:ext cx="73152" cy="731520"/>
          </a:xfrm>
          <a:prstGeom prst="rect">
            <a:avLst/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9601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นี่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4173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nîi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0972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C2420"/>
                </a:solidFill>
                <a:latin typeface="Inter"/>
              </a:rPr>
              <a:t>this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57400"/>
            <a:ext cx="6583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194560"/>
            <a:ext cx="73152" cy="731520"/>
          </a:xfrm>
          <a:prstGeom prst="rect">
            <a:avLst/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031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คือ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5603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khʉʉ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2402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C2420"/>
                </a:solidFill>
                <a:latin typeface="Inter"/>
              </a:rPr>
              <a:t>is / this 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6583680" cy="1280160"/>
          </a:xfrm>
          <a:prstGeom prst="roundRect">
            <a:avLst>
              <a:gd name="adj" fmla="val 5000"/>
            </a:avLst>
          </a:prstGeom>
          <a:solidFill>
            <a:srgbClr val="FDF5E6"/>
          </a:solidFill>
          <a:ln w="12700">
            <a:solidFill>
              <a:srgbClr val="D4B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3566160"/>
            <a:ext cx="73152" cy="9144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474720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นี่คือ...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9776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nîi khʉʉ...  —  this is...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Confirm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5A4E46"/>
                </a:solidFill>
                <a:latin typeface="Inter"/>
              </a:rPr>
              <a:t>Use ใช่ไหม to check if you are right: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6583680" cy="1371600"/>
          </a:xfrm>
          <a:prstGeom prst="roundRect">
            <a:avLst>
              <a:gd name="adj" fmla="val 5000"/>
            </a:avLst>
          </a:prstGeom>
          <a:solidFill>
            <a:srgbClr val="FDF5E6"/>
          </a:solidFill>
          <a:ln w="12700">
            <a:solidFill>
              <a:srgbClr val="D4B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371600"/>
            <a:ext cx="73152" cy="100584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2344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8963E"/>
                </a:solidFill>
                <a:latin typeface="Inter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54480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คุณคือ...ใช่ไหม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574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khun khʉʉ... châi mái  —  you are... right?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6583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2971800"/>
            <a:ext cx="73152" cy="822960"/>
          </a:xfrm>
          <a:prstGeom prst="rect">
            <a:avLst/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8803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ใช่ครับ/ค่ะ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918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châi khráp/khâ  —  Yes, that's right.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80"/>
            <a:ext cx="6583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4206240"/>
            <a:ext cx="73152" cy="82296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1148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ไม่ใช่ครับ/ค่ะ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52628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mâi châi khráp/khâ  —  No, that's not right.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Point, identify, and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Practise using the patterns together: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65836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463040"/>
            <a:ext cx="411480" cy="411480"/>
          </a:xfrm>
          <a:prstGeom prst="ellipse">
            <a:avLst/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2344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3B7A72"/>
                </a:solidFill>
                <a:latin typeface="Inter"/>
              </a:rPr>
              <a:t>Point and say: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50876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นี่คือครูครับ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659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nîi khʉʉ khruu khráp  —  This is the teacher.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65836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926080"/>
            <a:ext cx="411480" cy="41148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974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8963E"/>
                </a:solidFill>
                <a:latin typeface="Inter"/>
              </a:rPr>
              <a:t>Ask who: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7180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เขาคือใครคะ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290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khǎo khʉʉ khrai khá  —  Who is he/she?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65836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4389120"/>
            <a:ext cx="411480" cy="411480"/>
          </a:xfrm>
          <a:prstGeom prst="ellipse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6052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A0522D"/>
                </a:solidFill>
                <a:latin typeface="Inter"/>
              </a:rPr>
              <a:t>Confirm: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43484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คุณคือนักเรียนใช่ไหมครับ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8920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khun khʉʉ nák-rian châi mái khráp  —  You are a student, right?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Roleplay: Who is that?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1">
                <a:solidFill>
                  <a:srgbClr val="5A4E46"/>
                </a:solidFill>
                <a:latin typeface="Inter"/>
              </a:rPr>
              <a:t>At a class — asking about people around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05156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สวัสดีค่ะ เขาคือใครคะ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4475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sà-wàt-dii khâ khǎo khʉʉ khrai khá  —  Hello. Who is he/she?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96596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นี่คือครูครับ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35915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nîi khʉʉ khruu khráp  —  This is the teacher.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88036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คุณคือนักเรียนใช่ไหมคะ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27355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khun khʉʉ nák-rian châi mái khá  —  You are a student, right?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79476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ใช่ครับ ผมคือนักเรียนครับ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18795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châi khráp phǒm khʉʉ nák-rian khráp  —  Yes. I am a student.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B7A72"/>
                </a:solidFill>
                <a:latin typeface="Inter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Use ฉัน, ผม, คุณ, and เขา for basic conversations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B7A72"/>
                </a:solidFill>
                <a:latin typeface="Inter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Ask ใคร to find out who someone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B7A72"/>
                </a:solidFill>
                <a:latin typeface="Inter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Use นี่คือ... to identify people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B7A72"/>
                </a:solidFill>
                <a:latin typeface="Inter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Confirm with ใช่ไหม and answer with ใช่ or ไม่ใช่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762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8963E"/>
                </a:solidFill>
                <a:latin typeface="Inter"/>
              </a:rPr>
              <a:t>M01-L003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858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2C2420"/>
                </a:solidFill>
                <a:latin typeface="Inter"/>
              </a:rPr>
              <a:t>You can now ask who someone is
and identify people around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Pronouns + คือ + ใคร = a working identity toolkit.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Next lesson: numbers 0 to 10.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8A7E76"/>
                </a:solidFill>
                <a:latin typeface="Inter"/>
              </a:rPr>
              <a:t>Immersion Thai with Nine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760720"/>
            <a:ext cx="1828800" cy="381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