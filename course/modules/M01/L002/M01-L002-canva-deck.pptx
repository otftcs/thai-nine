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คุณชื่ออะไรครับ. Now say it yourself.</a:t>
            </a:r>
          </a:p>
          <a:p>
            <a:r>
              <a:t>• Pause-and-produce: I ask คุณชื่ออะไรครับ. Say your answer — ผมชื่อ or ฉันชื่อ plus your name — before I show it.</a:t>
            </a:r>
          </a:p>
          <a:p>
            <a:r>
              <a:t>• Substitution drill: say ผมชื่อ with your name, then say ฉันชื่อ with your name.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Substitution drill: say คน + country. คนไทย — your turn. คนอังกฤษ — your turn. คนอเมริกา — your turn.</a:t>
            </a:r>
          </a:p>
          <a:p>
            <a:r>
              <a:t>• Substitution drill (same format, different content): now use มาจาก + country. มาจากไทย — your turn. มาจากอังกฤษ — your turn.</a:t>
            </a:r>
          </a:p>
          <a:p>
            <a:r>
              <a:t>• Recall drill: without looking, how do you say 'thank you' from last lesson? Say it before I show. ขอบคุณครับ.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Tone echo: I say ชื่อ. Repeat it with a falling tone. Now I say มา. Repeat it flat. Can you feel the difference?</a:t>
            </a:r>
          </a:p>
          <a:p>
            <a:r>
              <a:t>• Minimal pair choice: I say two words from this lesson. Tell me which one has the falling tone.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517550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5084064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origin pattern with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names and country statements in short self-introductions.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give your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chûue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name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74320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0896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khun chûue à-rai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38912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phǒm chûue...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(male)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3035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66928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chǎn chûue...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(female)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435608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99032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maa-jàak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1828800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130552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240280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203704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432304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bprà-thêet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633472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935224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3044952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008376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236976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438144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Thailand / Thai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39896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3849624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3813048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041648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ang-grìt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242816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England / English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544568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8680" y="4654296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4617720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4846320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à-mee-rí-kaa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5047488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America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63270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32" name="Oval 31"/>
          <p:cNvSpPr/>
          <p:nvPr/>
        </p:nvSpPr>
        <p:spPr>
          <a:xfrm>
            <a:off x="932688" y="60167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925312"/>
            <a:ext cx="9555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with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: ผม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word for person and putting 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person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khon thai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 person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khon ang-grìt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English person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the falling tone on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rising tone on ไหน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chûue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high, drops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maa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mid tone — voice stays flat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จาก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jàak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— voice dips down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2984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khâ khun chûue à-rai khá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4996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842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2128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khráp phǒm chûue Oliver khráp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140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2608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8986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1272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yin-dii thîi dâai rúu-jàk khâ khun maa-jàak nǎi khá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3284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8130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0416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phǒm maa-jàak ang-grìt khráp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2428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5488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7274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9560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ǎw khon ang-grìt yin-dii dtâwn-ráp khâ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1572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7802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86584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00837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916936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353872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447288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06908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977640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2861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5312664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5221224"/>
            <a:ext cx="9555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greet, ask a name, give a name, and say where they are from in a compact polite exchange.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86207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7706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