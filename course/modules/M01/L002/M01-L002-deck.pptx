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70710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First Contact and Courtesy  ·  A0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93392"/>
            <a:ext cx="7071055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M01-L002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42032"/>
            <a:ext cx="707105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Names and Countries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77639"/>
            <a:ext cx="5303520" cy="12893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4123943"/>
            <a:ext cx="4937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Lesson focus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4507991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4416551"/>
            <a:ext cx="4800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 can say your name, ask someone's name, and state where you are from.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4818887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4727447"/>
            <a:ext cx="4800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Introduce yourself with name and country in 2-3 lines.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669280"/>
            <a:ext cx="10058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Immersion Thai with Nine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Lesson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you will learn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32004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8191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183794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Learner can say your name, ask someone's name, and state where you are from.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1417320"/>
            <a:ext cx="32004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71416" y="158191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71416" y="183794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Learner can recycle recent vocabulary while using origin pattern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in short controlled output.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063240"/>
            <a:ext cx="32004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" y="322783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348386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Introduce yourself with name and country in 2-3 lines.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51960" y="3063240"/>
            <a:ext cx="32004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71416" y="322783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1416" y="348386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Recognize names and country statements in short self-introductions.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Ask and give your name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name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คุณชื่ออะไร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(khun chûue à-rai)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what is your name?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ผมชื่อ...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(phǒm chûue...)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my name is... (male)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6592824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68680" y="6793992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6702552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ฉันชื่อ...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(chǎn chûue...)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" y="7470648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my name is... (female)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8531352"/>
            <a:ext cx="10058400" cy="1636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" y="8677656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24" name="Oval 23"/>
          <p:cNvSpPr/>
          <p:nvPr/>
        </p:nvSpPr>
        <p:spPr>
          <a:xfrm>
            <a:off x="932688" y="9061704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8970264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Listen and repeat: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คุณชื่ออะไร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(khun chûue à-rai)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ครับ. Now say it yourself.</a:t>
            </a:r>
          </a:p>
        </p:txBody>
      </p:sp>
      <p:sp>
        <p:nvSpPr>
          <p:cNvPr id="26" name="Oval 25"/>
          <p:cNvSpPr/>
          <p:nvPr/>
        </p:nvSpPr>
        <p:spPr>
          <a:xfrm>
            <a:off x="932688" y="9372600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78992" y="9281160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Pause-and-produce: I ask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คุณชื่ออะไร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(khun chûue à-rai)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ครับ. Say your answer — ผม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or ฉัน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plus your name — before I show it.</a:t>
            </a:r>
          </a:p>
        </p:txBody>
      </p:sp>
      <p:sp>
        <p:nvSpPr>
          <p:cNvPr id="28" name="Oval 27"/>
          <p:cNvSpPr/>
          <p:nvPr/>
        </p:nvSpPr>
        <p:spPr>
          <a:xfrm>
            <a:off x="932688" y="9683496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78992" y="9592056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Substitution drill: say ผม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with your name, then say ฉัน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with your name.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Say where you are from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come from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ประเทศ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(bprà-thêet)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country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ไทย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(thai)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Thailand / Thai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6592824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68680" y="6793992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6702552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อังกฤษ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(ang-grìt)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" y="7470648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England / English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8531352"/>
            <a:ext cx="10058400" cy="1636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" y="8677656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24" name="Oval 23"/>
          <p:cNvSpPr/>
          <p:nvPr/>
        </p:nvSpPr>
        <p:spPr>
          <a:xfrm>
            <a:off x="932688" y="9061704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8970264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Listen and repeat: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ผมมาจากอังกฤษครับ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(phǒm maa-jàak ang-grìt 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Now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อเมริกา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(à-mee-rí-kaa)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: ผม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อเมริกา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(à-mee-rí-kaa)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ครับ.</a:t>
            </a:r>
          </a:p>
        </p:txBody>
      </p:sp>
      <p:sp>
        <p:nvSpPr>
          <p:cNvPr id="26" name="Oval 25"/>
          <p:cNvSpPr/>
          <p:nvPr/>
        </p:nvSpPr>
        <p:spPr>
          <a:xfrm>
            <a:off x="932688" y="9372600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78992" y="9281160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Substitution drill: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อังกฤษ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(ang-grìt)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now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อเมริกา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(à-mee-rí-kaa)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now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ไทย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(thai)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  <p:sp>
        <p:nvSpPr>
          <p:cNvPr id="28" name="Oval 27"/>
          <p:cNvSpPr/>
          <p:nvPr/>
        </p:nvSpPr>
        <p:spPr>
          <a:xfrm>
            <a:off x="932688" y="9683496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78992" y="9592056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Response-building: I ask คุณ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ไหนครับ. Your turn — say where you are from before I show the answer.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The word for person and putting it together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person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คนไทย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 thai)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Thai person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คนอังกฤษ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 ang-grìt)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English person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6775704"/>
            <a:ext cx="10058400" cy="1636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6922008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20" name="Oval 19"/>
          <p:cNvSpPr/>
          <p:nvPr/>
        </p:nvSpPr>
        <p:spPr>
          <a:xfrm>
            <a:off x="932688" y="7306056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" y="7214616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Substitution drill: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+ country.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คนไทย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 thai)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— your turn.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คนอังกฤษ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 ang-grìt)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— your turn.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อเมริกา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(à-mee-rí-kaa)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— your turn.</a:t>
            </a:r>
          </a:p>
        </p:txBody>
      </p:sp>
      <p:sp>
        <p:nvSpPr>
          <p:cNvPr id="22" name="Oval 21"/>
          <p:cNvSpPr/>
          <p:nvPr/>
        </p:nvSpPr>
        <p:spPr>
          <a:xfrm>
            <a:off x="932688" y="761695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7525512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Substitution drill (same format, different content): now use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+ country.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ไทย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(thai)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— your turn.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อังกฤษ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(ang-grìt)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— your turn.</a:t>
            </a:r>
          </a:p>
        </p:txBody>
      </p:sp>
      <p:sp>
        <p:nvSpPr>
          <p:cNvPr id="24" name="Oval 23"/>
          <p:cNvSpPr/>
          <p:nvPr/>
        </p:nvSpPr>
        <p:spPr>
          <a:xfrm>
            <a:off x="932688" y="7927848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7836408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Recall drill: without looking, how do you say 'thank you' from last lesson? Say it before I show.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 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Pronunciation: the falling tone on </a:t>
            </a:r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rising tone on ไหน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falling tone — voice starts high, drops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mid tone — voice stays flat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จาก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(jàak)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low tone — voice dips down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6775704"/>
            <a:ext cx="10058400" cy="12893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6922008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20" name="Oval 19"/>
          <p:cNvSpPr/>
          <p:nvPr/>
        </p:nvSpPr>
        <p:spPr>
          <a:xfrm>
            <a:off x="932688" y="7306056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" y="7214616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Tone echo: I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Repeat it with a falling tone. Now I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Repeat it flat. Can you feel the difference?</a:t>
            </a:r>
          </a:p>
        </p:txBody>
      </p:sp>
      <p:sp>
        <p:nvSpPr>
          <p:cNvPr id="22" name="Oval 21"/>
          <p:cNvSpPr/>
          <p:nvPr/>
        </p:nvSpPr>
        <p:spPr>
          <a:xfrm>
            <a:off x="932688" y="761695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7525512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Minimal pair choice: I say two words from this lesson. Tell me which one has the falling tone.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Roleplay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Roleplay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097280"/>
            <a:ext cx="137160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New person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5960" y="1069848"/>
            <a:ext cx="583661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สวัสดีค่ะ คุณชื่ออะไรคะ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khâ khun chûue à-rai khá)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1353312"/>
            <a:ext cx="583661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Hello! What is your name?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87452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5960" y="1847088"/>
            <a:ext cx="583661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สวัสดีครับ ผมชื่อ Oliver 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khráp phǒm chûue Oliver khráp)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2130552"/>
            <a:ext cx="583661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Hello! My name is Oliver.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651760"/>
            <a:ext cx="137160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New person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2624328"/>
            <a:ext cx="583661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ยินดีที่ได้รู้จักค่ะ คุณมาจากไหนคะ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(yin-dii thîi dâai rúu-jàk khâ khun maa-jàak nǎi khá)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2907792"/>
            <a:ext cx="583661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Nice to meet you. Where are you from?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42900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3401568"/>
            <a:ext cx="8823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ผมมาจากอังกฤษครับ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(phǒm maa-jàak ang-grìt khráp)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3685032"/>
            <a:ext cx="8823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I am from England.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206240"/>
            <a:ext cx="137160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New person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4178808"/>
            <a:ext cx="8823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อ๋อ คนอังกฤษ ยินดีต้อนรับค่ะ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(ǎw khon ang-grìt yin-dii dtâwn-ráp khâ)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65960" y="4462272"/>
            <a:ext cx="8823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Oh, an English person! Welcome.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98348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65960" y="4956048"/>
            <a:ext cx="8823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 khráp)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5239512"/>
            <a:ext cx="8823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Thank you.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7071055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563624"/>
            <a:ext cx="670529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What you can now do</a:t>
            </a:r>
          </a:p>
        </p:txBody>
      </p:sp>
      <p:sp>
        <p:nvSpPr>
          <p:cNvPr id="8" name="Oval 7"/>
          <p:cNvSpPr/>
          <p:nvPr/>
        </p:nvSpPr>
        <p:spPr>
          <a:xfrm>
            <a:off x="932688" y="1947672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1856232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Look away and try: how do you ask someone's name in Thai? Say it before looking.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คุณชื่ออะไร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(khun chûue à-rai)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2258568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2167128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How do you say where you are from? ผม/ฉัน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+ country.</a:t>
            </a:r>
          </a:p>
        </p:txBody>
      </p:sp>
      <p:sp>
        <p:nvSpPr>
          <p:cNvPr id="12" name="Oval 11"/>
          <p:cNvSpPr/>
          <p:nvPr/>
        </p:nvSpPr>
        <p:spPr>
          <a:xfrm>
            <a:off x="932688" y="2569464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2478024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does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mean? Person. How do you say 'Thai person'?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คนไทย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 thai)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  <p:sp>
        <p:nvSpPr>
          <p:cNvPr id="14" name="Oval 13"/>
          <p:cNvSpPr/>
          <p:nvPr/>
        </p:nvSpPr>
        <p:spPr>
          <a:xfrm>
            <a:off x="932688" y="2880360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8992" y="2788920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From lesson 1: how do you say thank you?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How do you respond to thanks? ไม่เป็นไร.</a:t>
            </a:r>
          </a:p>
        </p:txBody>
      </p:sp>
      <p:sp>
        <p:nvSpPr>
          <p:cNvPr id="16" name="Oval 15"/>
          <p:cNvSpPr/>
          <p:nvPr/>
        </p:nvSpPr>
        <p:spPr>
          <a:xfrm>
            <a:off x="932688" y="3191256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78992" y="3099816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Tone check: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has a falling tone — voice drops.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has a mid tone — voice stays flat.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160520"/>
            <a:ext cx="10058400" cy="12893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4306824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7A8F54"/>
                </a:solidFill>
                <a:latin typeface="Sarabun"/>
                <a:ea typeface="Sarabun"/>
                <a:cs typeface="Sarabun"/>
              </a:rPr>
              <a:t>Remember</a:t>
            </a:r>
          </a:p>
        </p:txBody>
      </p:sp>
      <p:sp>
        <p:nvSpPr>
          <p:cNvPr id="20" name="Oval 19"/>
          <p:cNvSpPr/>
          <p:nvPr/>
        </p:nvSpPr>
        <p:spPr>
          <a:xfrm>
            <a:off x="932688" y="4690872"/>
            <a:ext cx="82296" cy="82296"/>
          </a:xfrm>
          <a:prstGeom prst="ellipse">
            <a:avLst/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" y="4599432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Tone check: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has a falling tone — voice drops.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has a mid tone — voice stays flat.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Closing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7071055" cy="12893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746504"/>
            <a:ext cx="670529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Next steps</a:t>
            </a:r>
          </a:p>
        </p:txBody>
      </p:sp>
      <p:sp>
        <p:nvSpPr>
          <p:cNvPr id="8" name="Oval 7"/>
          <p:cNvSpPr/>
          <p:nvPr/>
        </p:nvSpPr>
        <p:spPr>
          <a:xfrm>
            <a:off x="932688" y="213055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2039112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By the end, you can greet, ask a name, give a name, and say where they are from in a compact polite exchange.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2441448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2350008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Next: First Contact and Courtesy continues.</a:t>
            </a:r>
          </a:p>
        </p:txBody>
      </p:sp>
    </p:spTree>
  </p:cSld>
  <p:clrMapOvr>
    <a:masterClrMapping/>
  </p:clrMapOvr>
</p:sld>
</file>

<file path=ppt/theme/theme1.xml><?xml version="1.0" encoding="utf-8"?>
<ns0:theme xmlns:ns0="http://schemas.openxmlformats.org/drawingml/2006/main" name="Office Theme">
  <ns0:themeElements>
    <ns0:clrScheme name="Office">
      <ns0:dk1>
        <ns0:sysClr val="windowText" lastClr="000000"/>
      </ns0:dk1>
      <ns0:lt1>
        <ns0:sysClr val="window" lastClr="FFFFFF"/>
      </ns0:lt1>
      <ns0:dk2>
        <ns0:srgbClr val="1F497D"/>
      </ns0:dk2>
      <ns0:lt2>
        <ns0:srgbClr val="EEECE1"/>
      </ns0:lt2>
      <ns0:accent1>
        <ns0:srgbClr val="4F81BD"/>
      </ns0:accent1>
      <ns0:accent2>
        <ns0:srgbClr val="C0504D"/>
      </ns0:accent2>
      <ns0:accent3>
        <ns0:srgbClr val="9BBB59"/>
      </ns0:accent3>
      <ns0:accent4>
        <ns0:srgbClr val="8064A2"/>
      </ns0:accent4>
      <ns0:accent5>
        <ns0:srgbClr val="4BACC6"/>
      </ns0:accent5>
      <ns0:accent6>
        <ns0:srgbClr val="F79646"/>
      </ns0:accent6>
      <ns0:hlink>
        <ns0:srgbClr val="0000FF"/>
      </ns0:hlink>
      <ns0:folHlink>
        <ns0:srgbClr val="800080"/>
      </ns0:folHlink>
    </ns0:clrScheme>
    <ns0:fontScheme name="Office">
      <ns0:maj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Times New Roman"/>
        <ns0:font script="Hebr" typeface="Times New Roman"/>
        <ns0:font script="Thai" typeface="Sarabun"/>
        <ns0:font script="Ethi" typeface="Nyala"/>
        <ns0:font script="Beng" typeface="Vrinda"/>
        <ns0:font script="Gujr" typeface="Shruti"/>
        <ns0:font script="Khmr" typeface="MoolBoran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Times New Roman"/>
        <ns0:font script="Uigh" typeface="Microsoft Uighur"/>
        <ns0:font script="Geor" typeface="Sylfaen"/>
      </ns0:majorFont>
      <ns0:min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Arial"/>
        <ns0:font script="Hebr" typeface="Arial"/>
        <ns0:font script="Thai" typeface="Sarabun"/>
        <ns0:font script="Ethi" typeface="Nyala"/>
        <ns0:font script="Beng" typeface="Vrinda"/>
        <ns0:font script="Gujr" typeface="Shruti"/>
        <ns0:font script="Khmr" typeface="DaunPenh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Arial"/>
        <ns0:font script="Uigh" typeface="Microsoft Uighur"/>
        <ns0:font script="Geor" typeface="Sylfaen"/>
      </ns0:minorFont>
    </ns0:fontScheme>
    <ns0:fmtScheme name="Office">
      <ns0:fillStyleLst>
        <ns0:solidFill>
          <ns0:schemeClr val="phClr"/>
        </ns0:solidFill>
        <ns0:gradFill rotWithShape="1">
          <ns0:gsLst>
            <ns0:gs pos="0">
              <ns0:schemeClr val="phClr">
                <ns0:tint val="50000"/>
                <ns0:satMod val="300000"/>
              </ns0:schemeClr>
            </ns0:gs>
            <ns0:gs pos="35000">
              <ns0:schemeClr val="phClr">
                <ns0:tint val="37000"/>
                <ns0:satMod val="300000"/>
              </ns0:schemeClr>
            </ns0:gs>
            <ns0:gs pos="100000">
              <ns0:schemeClr val="phClr">
                <ns0:tint val="15000"/>
                <ns0:satMod val="350000"/>
              </ns0:schemeClr>
            </ns0:gs>
          </ns0:gsLst>
          <ns0:lin ang="16200000" scaled="1"/>
        </ns0:gradFill>
        <ns0:gradFill rotWithShape="1">
          <ns0:gsLst>
            <ns0:gs pos="0">
              <ns0:schemeClr val="phClr">
                <ns0:tint val="100000"/>
                <ns0:shade val="100000"/>
                <ns0:satMod val="130000"/>
              </ns0:schemeClr>
            </ns0:gs>
            <ns0:gs pos="100000">
              <ns0:schemeClr val="phClr">
                <ns0:tint val="50000"/>
                <ns0:shade val="100000"/>
                <ns0:satMod val="350000"/>
              </ns0:schemeClr>
            </ns0:gs>
          </ns0:gsLst>
          <ns0:lin ang="16200000" scaled="0"/>
        </ns0:gradFill>
      </ns0:fillStyleLst>
      <ns0:lnStyleLst>
        <ns0:ln w="9525" cap="flat" cmpd="sng" algn="ctr">
          <ns0:solidFill>
            <ns0:schemeClr val="phClr">
              <ns0:shade val="95000"/>
              <ns0:satMod val="105000"/>
            </ns0:schemeClr>
          </ns0:solidFill>
          <ns0:prstDash val="solid"/>
        </ns0:ln>
        <ns0:ln w="25400" cap="flat" cmpd="sng" algn="ctr">
          <ns0:solidFill>
            <ns0:schemeClr val="phClr"/>
          </ns0:solidFill>
          <ns0:prstDash val="solid"/>
        </ns0:ln>
        <ns0:ln w="38100" cap="flat" cmpd="sng" algn="ctr">
          <ns0:solidFill>
            <ns0:schemeClr val="phClr"/>
          </ns0:solidFill>
          <ns0:prstDash val="solid"/>
        </ns0:ln>
      </ns0:lnStyleLst>
      <ns0:effectStyleLst>
        <ns0:effectStyle>
          <ns0:effectLst>
            <ns0:outerShdw blurRad="40000" dist="20000" dir="5400000" rotWithShape="0">
              <ns0:srgbClr val="000000">
                <ns0:alpha val="38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  <ns0:scene3d>
            <ns0:camera prst="orthographicFront">
              <ns0:rot lat="0" lon="0" rev="0"/>
            </ns0:camera>
            <ns0:lightRig rig="threePt" dir="t">
              <ns0:rot lat="0" lon="0" rev="1200000"/>
            </ns0:lightRig>
          </ns0:scene3d>
          <ns0:sp3d>
            <ns0:bevelT w="63500" h="25400"/>
          </ns0:sp3d>
        </ns0:effectStyle>
      </ns0:effectStyleLst>
      <ns0:bgFillStyleLst>
        <ns0:solidFill>
          <ns0:schemeClr val="phClr"/>
        </ns0:solidFill>
        <ns0:gradFill rotWithShape="1">
          <ns0:gsLst>
            <ns0:gs pos="0">
              <ns0:schemeClr val="phClr">
                <ns0:tint val="40000"/>
                <ns0:satMod val="350000"/>
              </ns0:schemeClr>
            </ns0:gs>
            <ns0:gs pos="40000">
              <ns0:schemeClr val="phClr">
                <ns0:tint val="45000"/>
                <ns0:shade val="99000"/>
                <ns0:satMod val="350000"/>
              </ns0:schemeClr>
            </ns0:gs>
            <ns0:gs pos="100000">
              <ns0:schemeClr val="phClr">
                <ns0:shade val="20000"/>
                <ns0:satMod val="255000"/>
              </ns0:schemeClr>
            </ns0:gs>
          </ns0:gsLst>
          <ns0:path path="circle">
            <ns0:fillToRect l="50000" t="-80000" r="50000" b="180000"/>
          </ns0:path>
        </ns0:gradFill>
        <ns0:gradFill rotWithShape="1">
          <ns0:gsLst>
            <ns0:gs pos="0">
              <ns0:schemeClr val="phClr">
                <ns0:tint val="80000"/>
                <ns0:satMod val="300000"/>
              </ns0:schemeClr>
            </ns0:gs>
            <ns0:gs pos="100000">
              <ns0:schemeClr val="phClr">
                <ns0:shade val="30000"/>
                <ns0:satMod val="200000"/>
              </ns0:schemeClr>
            </ns0:gs>
          </ns0:gsLst>
          <ns0:path path="circle">
            <ns0:fillToRect l="50000" t="50000" r="50000" b="50000"/>
          </ns0:path>
        </ns0:gradFill>
      </ns0:bgFillStyleLst>
    </ns0:fmtScheme>
  </ns0:themeElements>
  <ns0:objectDefaults>
    <ns0:spDef>
      <ns0:spPr/>
      <ns0:bodyPr/>
      <ns0:lstStyle/>
      <ns0:style>
        <ns0:lnRef idx="1">
          <ns0:schemeClr val="accent1"/>
        </ns0:lnRef>
        <ns0:fillRef idx="3">
          <ns0:schemeClr val="accent1"/>
        </ns0:fillRef>
        <ns0:effectRef idx="2">
          <ns0:schemeClr val="accent1"/>
        </ns0:effectRef>
        <ns0:fontRef idx="minor">
          <ns0:schemeClr val="lt1"/>
        </ns0:fontRef>
      </ns0:style>
    </ns0:spDef>
    <ns0:lnDef>
      <ns0:spPr/>
      <ns0:bodyPr/>
      <ns0:lstStyle/>
      <ns0:style>
        <ns0:lnRef idx="2">
          <ns0:schemeClr val="accent1"/>
        </ns0:lnRef>
        <ns0:fillRef idx="0">
          <ns0:schemeClr val="accent1"/>
        </ns0:fillRef>
        <ns0:effectRef idx="1">
          <ns0:schemeClr val="accent1"/>
        </ns0:effectRef>
        <ns0:fontRef idx="minor">
          <ns0:schemeClr val="tx1"/>
        </ns0:fontRef>
      </ns0:style>
    </ns0:lnDef>
  </ns0:objectDefaults>
  <ns0:extraClrSchemeLst/>
</ns0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