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62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First Contact and Courtesy  ·  A0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93392"/>
            <a:ext cx="10058400" cy="3291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0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M01-L002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542032"/>
            <a:ext cx="100584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2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Names and Countries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30352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4123943"/>
            <a:ext cx="4937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focus</a:t>
            </a:r>
          </a:p>
        </p:txBody>
      </p:sp>
      <p:sp>
        <p:nvSpPr>
          <p:cNvPr id="9" name="Oval 8"/>
          <p:cNvSpPr/>
          <p:nvPr/>
        </p:nvSpPr>
        <p:spPr>
          <a:xfrm>
            <a:off x="932688" y="4507991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4416551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say your name, ask someone's name, and state where you are from.</a:t>
            </a:r>
          </a:p>
        </p:txBody>
      </p:sp>
      <p:sp>
        <p:nvSpPr>
          <p:cNvPr id="11" name="Oval 10"/>
          <p:cNvSpPr/>
          <p:nvPr/>
        </p:nvSpPr>
        <p:spPr>
          <a:xfrm>
            <a:off x="932688" y="4818887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4727447"/>
            <a:ext cx="4800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Immersion Thai with Nine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Lesson objectives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you will learn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say your name, ask someone's name, and state where you are from.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51960" y="141732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71416" y="158191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71416" y="183794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Learner can recycle recent vocabulary while using origin pattern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in short controlled output.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Introduce yourself with name and country in 2-3 lines.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51960" y="3063240"/>
            <a:ext cx="3200400" cy="1234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71416" y="3227832"/>
            <a:ext cx="365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71416" y="3483864"/>
            <a:ext cx="2761488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Recognize names and country statements in short self-introductions.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Ask and give your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name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what is your name?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ผมชื่อ...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chûue...)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(male)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ฉันชื่อ...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(chǎn chûue...)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my name is... (female)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434840"/>
            <a:ext cx="50292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581144"/>
            <a:ext cx="4663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873752"/>
            <a:ext cx="4526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Now say it yourself.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5184648"/>
            <a:ext cx="4526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Pause-and-produce: I ask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 Say your answer —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or ฉัน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plus your name — before I show it.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558698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5495544"/>
            <a:ext cx="4526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your name, then say ฉัน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your name.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Say where you are from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come from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ประเทศ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(bprà-thêet)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country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Thailand / Thai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6592824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68680" y="6793992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78992" y="6702552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78992" y="7470648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England / English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4434840"/>
            <a:ext cx="50292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4581144"/>
            <a:ext cx="4663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4873752"/>
            <a:ext cx="4526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Listen and repeat: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: ผม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ครับ.</a:t>
            </a:r>
          </a:p>
        </p:txBody>
      </p:sp>
      <p:sp>
        <p:nvSpPr>
          <p:cNvPr id="26" name="Oval 25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78992" y="5184648"/>
            <a:ext cx="4526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, now with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28" name="Oval 27"/>
          <p:cNvSpPr/>
          <p:nvPr/>
        </p:nvSpPr>
        <p:spPr>
          <a:xfrm>
            <a:off x="932688" y="558698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78992" y="5495544"/>
            <a:ext cx="4526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Response-building: I ask คุณ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ไหนครับ. Your turn — say where you are from before I show the answer.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The word for person and putting it together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person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Thai person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English person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5029200" cy="16367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81144"/>
            <a:ext cx="4663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873752"/>
            <a:ext cx="4526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drill: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อเมริกา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(à-mee-rí-kaa)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184648"/>
            <a:ext cx="4526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Substitution drill (same format, different content): now use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อังกฤษ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(ang-grìt)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— your turn.</a:t>
            </a:r>
          </a:p>
        </p:txBody>
      </p:sp>
      <p:sp>
        <p:nvSpPr>
          <p:cNvPr id="24" name="Oval 23"/>
          <p:cNvSpPr/>
          <p:nvPr/>
        </p:nvSpPr>
        <p:spPr>
          <a:xfrm>
            <a:off x="932688" y="5586984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78992" y="5495544"/>
            <a:ext cx="4526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Recall drill: without looking, how do you say 'thank you' from last lesson? Say it before I show.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Teaching slide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Pronunciation: the falling tone on 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223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36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and rising tone on ไหน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25880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1527048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78992" y="1435608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203704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falling tone — voice starts high, drops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68680" y="3282696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78992" y="3191256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8992" y="3959352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mid tone — voice stays flat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37176"/>
            <a:ext cx="5029200" cy="157276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" y="5038344"/>
            <a:ext cx="73152" cy="11430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946904"/>
            <a:ext cx="4572000" cy="6583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จาก</a:t>
            </a:r>
            <a:r>
              <a:rPr sz="198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(jàak)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" y="57150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82909A"/>
                </a:solidFill>
                <a:latin typeface="Sarabun"/>
                <a:ea typeface="Sarabun"/>
                <a:cs typeface="Sarabun"/>
              </a:rPr>
              <a:t>low tone — voice dips down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434840"/>
            <a:ext cx="50292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581144"/>
            <a:ext cx="4663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Practice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96519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873752"/>
            <a:ext cx="4526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echo: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with a falling tone. Now I say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Repeat it flat. Can you feel the difference?</a:t>
            </a:r>
          </a:p>
        </p:txBody>
      </p:sp>
      <p:sp>
        <p:nvSpPr>
          <p:cNvPr id="22" name="Oval 21"/>
          <p:cNvSpPr/>
          <p:nvPr/>
        </p:nvSpPr>
        <p:spPr>
          <a:xfrm>
            <a:off x="932688" y="527608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8992" y="5184648"/>
            <a:ext cx="4526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Minimal pair choice: I say two words from this lesson. Tell me which one has the falling tone.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Roleplay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09728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106984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สวัสดีค่ะ คุณชื่ออะไรคะ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khâ khun chûue à-rai khá)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65960" y="135331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What is your name?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87452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Learner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184708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สวัสดีครับ ผมชื่อ Oliver 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(sà-wàt-dii khráp phǒm chûue Oliver khráp)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65960" y="213055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Hello! My name is Oliver.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65176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262432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ยินดีที่ได้รู้จักค่ะ คุณมาจากไหนคะ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(yin-dii thîi dâai rúu-jàk khâ khun maa-jàak nǎi khá)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290779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Nice to meet you. Where are you from?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42900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Learner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340156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ผมมาจากอังกฤษครับ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(phǒm maa-jàak ang-grìt khráp)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65960" y="368503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I am from England.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206240"/>
            <a:ext cx="1371600" cy="274320"/>
          </a:xfrm>
          <a:prstGeom prst="roundRect">
            <a:avLst>
              <a:gd name="adj" fmla="val 28000"/>
            </a:avLst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New person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65960" y="417880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อ๋อ คนอังกฤษ ยินดีต้อนรับค่ะ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(ǎw khon ang-grìt yin-dii dtâwn-ráp khâ)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65960" y="446227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Oh, an English person! Welcome.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31520" y="4983480"/>
            <a:ext cx="1051560" cy="274320"/>
          </a:xfrm>
          <a:prstGeom prst="roundRect">
            <a:avLst>
              <a:gd name="adj" fmla="val 28000"/>
            </a:avLst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200" b="1" lang="en-US" altLang="en-US">
                <a:solidFill>
                  <a:srgbClr val="FFFFFF"/>
                </a:solidFill>
                <a:latin typeface="Sarabun"/>
                <a:ea typeface="Sarabun"/>
                <a:cs typeface="Sarabun"/>
              </a:rPr>
              <a:t>Learner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4956048"/>
            <a:ext cx="836676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ขอบคุณครับ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 khráp)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65960" y="5239512"/>
            <a:ext cx="836676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 i="0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Thank you.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417320"/>
            <a:ext cx="9601200" cy="23317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56362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What you can now do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1947672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185623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Look away and try: how do you ask someone's name in Thai? Say it before looking.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คุณชื่ออะไร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(khun chûue à-rai)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258568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167128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How do you say where you are from? ผม/ฉัน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มาจาก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(maa-jàak)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+ country.</a:t>
            </a:r>
          </a:p>
        </p:txBody>
      </p:sp>
      <p:sp>
        <p:nvSpPr>
          <p:cNvPr id="12" name="Oval 11"/>
          <p:cNvSpPr/>
          <p:nvPr/>
        </p:nvSpPr>
        <p:spPr>
          <a:xfrm>
            <a:off x="932688" y="2569464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8992" y="2478024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What does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mean? Person. How do you say 'Thai person'?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คนไทย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(khon thai)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</a:t>
            </a:r>
          </a:p>
        </p:txBody>
      </p:sp>
      <p:sp>
        <p:nvSpPr>
          <p:cNvPr id="14" name="Oval 13"/>
          <p:cNvSpPr/>
          <p:nvPr/>
        </p:nvSpPr>
        <p:spPr>
          <a:xfrm>
            <a:off x="932688" y="2880360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8992" y="2788920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From lesson 1: how do you say thank you?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ขอบคุณ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(khàawp-khun)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. How do you respond to thanks? ไม่เป็นไร.</a:t>
            </a:r>
          </a:p>
        </p:txBody>
      </p:sp>
      <p:sp>
        <p:nvSpPr>
          <p:cNvPr id="16" name="Oval 15"/>
          <p:cNvSpPr/>
          <p:nvPr/>
        </p:nvSpPr>
        <p:spPr>
          <a:xfrm>
            <a:off x="932688" y="3191256"/>
            <a:ext cx="82296" cy="82296"/>
          </a:xfrm>
          <a:prstGeom prst="ellipse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78992" y="3099816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60520"/>
            <a:ext cx="96012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" y="430682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7A8F54"/>
                </a:solidFill>
                <a:latin typeface="Sarabun"/>
                <a:ea typeface="Sarabun"/>
                <a:cs typeface="Sarabun"/>
              </a:rPr>
              <a:t>Remember</a:t>
            </a:r>
          </a:p>
        </p:txBody>
      </p:sp>
      <p:sp>
        <p:nvSpPr>
          <p:cNvPr id="20" name="Oval 19"/>
          <p:cNvSpPr/>
          <p:nvPr/>
        </p:nvSpPr>
        <p:spPr>
          <a:xfrm>
            <a:off x="932688" y="4690872"/>
            <a:ext cx="82296" cy="82296"/>
          </a:xfrm>
          <a:prstGeom prst="ellipse">
            <a:avLst/>
          </a:prstGeom>
          <a:solidFill>
            <a:srgbClr val="7A8F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78992" y="459943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Tone check: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ชื่อ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(chûue)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falling tone — voice drops. </a:t>
            </a:r>
            <a:r>
              <a:rPr sz="1500" b="0" i="0" lang="th-TH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มา</a:t>
            </a:r>
            <a:r>
              <a:rPr sz="1500" b="0" i="1" lang="en-US" altLang="en-US">
                <a:solidFill>
                  <a:srgbClr val="566873"/>
                </a:solidFill>
                <a:latin typeface="Sarabun"/>
                <a:ea typeface="Sarabun"/>
                <a:cs typeface="Sarabun"/>
              </a:rPr>
              <a:t> (maa)</a:t>
            </a:r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 has a mid tone — voice stays flat.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51215" y="3977640"/>
            <a:ext cx="3840480" cy="2880360"/>
          </a:xfrm>
          <a:prstGeom prst="rect">
            <a:avLst/>
          </a:prstGeom>
          <a:solidFill>
            <a:srgbClr val="DBE7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3500"/>
          </a:xfrm>
          <a:prstGeom prst="rect">
            <a:avLst/>
          </a:prstGeom>
          <a:solidFill>
            <a:srgbClr val="355C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56032"/>
            <a:ext cx="100584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 i="0" lang="en-US" altLang="en-US">
                <a:solidFill>
                  <a:srgbClr val="355C7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30352"/>
            <a:ext cx="100584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600" b="1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Closing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600200"/>
            <a:ext cx="9601200" cy="128930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7DEE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1746504"/>
            <a:ext cx="923544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 lang="en-US" altLang="en-US">
                <a:solidFill>
                  <a:srgbClr val="C96F4A"/>
                </a:solidFill>
                <a:latin typeface="Sarabun"/>
                <a:ea typeface="Sarabun"/>
                <a:cs typeface="Sarabun"/>
              </a:rPr>
              <a:t>Next steps</a:t>
            </a:r>
          </a:p>
        </p:txBody>
      </p:sp>
      <p:sp>
        <p:nvSpPr>
          <p:cNvPr id="8" name="Oval 7"/>
          <p:cNvSpPr/>
          <p:nvPr/>
        </p:nvSpPr>
        <p:spPr>
          <a:xfrm>
            <a:off x="932688" y="2130552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78992" y="2039112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By the end, the learner can greet, ask a name, give a name, and say where they are from in a compact polite exchange.</a:t>
            </a:r>
          </a:p>
        </p:txBody>
      </p:sp>
      <p:sp>
        <p:nvSpPr>
          <p:cNvPr id="10" name="Oval 9"/>
          <p:cNvSpPr/>
          <p:nvPr/>
        </p:nvSpPr>
        <p:spPr>
          <a:xfrm>
            <a:off x="932688" y="2441448"/>
            <a:ext cx="82296" cy="82296"/>
          </a:xfrm>
          <a:prstGeom prst="ellipse">
            <a:avLst/>
          </a:prstGeom>
          <a:solidFill>
            <a:srgbClr val="C96F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78992" y="2350008"/>
            <a:ext cx="9098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 i="0" lang="en-US" altLang="en-US">
                <a:solidFill>
                  <a:srgbClr val="24333D"/>
                </a:solidFill>
                <a:latin typeface="Sarabun"/>
                <a:ea typeface="Sarabun"/>
                <a:cs typeface="Sarabun"/>
              </a:rPr>
              <a:t>Next: First Contact and Courtesy continues.</a:t>
            </a:r>
          </a:p>
        </p:txBody>
      </p:sp>
    </p:spTree>
  </p:cSld>
  <p:clrMapOvr>
    <a:masterClrMapping/>
  </p:clrMapOvr>
</p:sld>
</file>

<file path=ppt/theme/theme1.xml><?xml version="1.0" encoding="utf-8"?>
<ns0:theme xmlns:ns0="http://schemas.openxmlformats.org/drawingml/2006/main" name="Office Theme">
  <ns0:themeElements>
    <ns0:clrScheme name="Office">
      <ns0:dk1>
        <ns0:sysClr val="windowText" lastClr="000000"/>
      </ns0:dk1>
      <ns0:lt1>
        <ns0:sysClr val="window" lastClr="FFFFFF"/>
      </ns0:lt1>
      <ns0:dk2>
        <ns0:srgbClr val="1F497D"/>
      </ns0:dk2>
      <ns0:lt2>
        <ns0:srgbClr val="EEECE1"/>
      </ns0:lt2>
      <ns0:accent1>
        <ns0:srgbClr val="4F81BD"/>
      </ns0:accent1>
      <ns0:accent2>
        <ns0:srgbClr val="C0504D"/>
      </ns0:accent2>
      <ns0:accent3>
        <ns0:srgbClr val="9BBB59"/>
      </ns0:accent3>
      <ns0:accent4>
        <ns0:srgbClr val="8064A2"/>
      </ns0:accent4>
      <ns0:accent5>
        <ns0:srgbClr val="4BACC6"/>
      </ns0:accent5>
      <ns0:accent6>
        <ns0:srgbClr val="F79646"/>
      </ns0:accent6>
      <ns0:hlink>
        <ns0:srgbClr val="0000FF"/>
      </ns0:hlink>
      <ns0:folHlink>
        <ns0:srgbClr val="800080"/>
      </ns0:folHlink>
    </ns0:clrScheme>
    <ns0:fontScheme name="Office">
      <ns0:maj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Times New Roman"/>
        <ns0:font script="Hebr" typeface="Times New Roman"/>
        <ns0:font script="Thai" typeface="Sarabun"/>
        <ns0:font script="Ethi" typeface="Nyala"/>
        <ns0:font script="Beng" typeface="Vrinda"/>
        <ns0:font script="Gujr" typeface="Shruti"/>
        <ns0:font script="Khmr" typeface="MoolBoran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Times New Roman"/>
        <ns0:font script="Uigh" typeface="Microsoft Uighur"/>
        <ns0:font script="Geor" typeface="Sylfaen"/>
      </ns0:majorFont>
      <ns0:minorFont>
        <ns0:latin typeface="Sarabun"/>
        <ns0:ea typeface="Sarabun"/>
        <ns0:cs typeface="Sarabun"/>
        <ns0:font script="Jpan" typeface="ＭＳ Ｐゴシック"/>
        <ns0:font script="Hang" typeface="맑은 고딕"/>
        <ns0:font script="Hans" typeface="宋体"/>
        <ns0:font script="Hant" typeface="新細明體"/>
        <ns0:font script="Arab" typeface="Arial"/>
        <ns0:font script="Hebr" typeface="Arial"/>
        <ns0:font script="Thai" typeface="Sarabun"/>
        <ns0:font script="Ethi" typeface="Nyala"/>
        <ns0:font script="Beng" typeface="Vrinda"/>
        <ns0:font script="Gujr" typeface="Shruti"/>
        <ns0:font script="Khmr" typeface="DaunPenh"/>
        <ns0:font script="Knda" typeface="Tunga"/>
        <ns0:font script="Guru" typeface="Raavi"/>
        <ns0:font script="Cans" typeface="Euphemia"/>
        <ns0:font script="Cher" typeface="Plantagenet Cherokee"/>
        <ns0:font script="Yiii" typeface="Microsoft Yi Baiti"/>
        <ns0:font script="Tibt" typeface="Microsoft Himalaya"/>
        <ns0:font script="Thaa" typeface="MV Boli"/>
        <ns0:font script="Deva" typeface="Mangal"/>
        <ns0:font script="Telu" typeface="Gautami"/>
        <ns0:font script="Taml" typeface="Latha"/>
        <ns0:font script="Syrc" typeface="Estrangelo Edessa"/>
        <ns0:font script="Orya" typeface="Kalinga"/>
        <ns0:font script="Mlym" typeface="Kartika"/>
        <ns0:font script="Laoo" typeface="DokChampa"/>
        <ns0:font script="Sinh" typeface="Iskoola Pota"/>
        <ns0:font script="Mong" typeface="Mongolian Baiti"/>
        <ns0:font script="Viet" typeface="Arial"/>
        <ns0:font script="Uigh" typeface="Microsoft Uighur"/>
        <ns0:font script="Geor" typeface="Sylfaen"/>
      </ns0:minorFont>
    </ns0:fontScheme>
    <ns0:fmtScheme name="Office">
      <ns0:fillStyleLst>
        <ns0:solidFill>
          <ns0:schemeClr val="phClr"/>
        </ns0:solidFill>
        <ns0:gradFill rotWithShape="1">
          <ns0:gsLst>
            <ns0:gs pos="0">
              <ns0:schemeClr val="phClr">
                <ns0:tint val="50000"/>
                <ns0:satMod val="300000"/>
              </ns0:schemeClr>
            </ns0:gs>
            <ns0:gs pos="35000">
              <ns0:schemeClr val="phClr">
                <ns0:tint val="37000"/>
                <ns0:satMod val="300000"/>
              </ns0:schemeClr>
            </ns0:gs>
            <ns0:gs pos="100000">
              <ns0:schemeClr val="phClr">
                <ns0:tint val="15000"/>
                <ns0:satMod val="350000"/>
              </ns0:schemeClr>
            </ns0:gs>
          </ns0:gsLst>
          <ns0:lin ang="16200000" scaled="1"/>
        </ns0:gradFill>
        <ns0:gradFill rotWithShape="1">
          <ns0:gsLst>
            <ns0:gs pos="0">
              <ns0:schemeClr val="phClr">
                <ns0:tint val="100000"/>
                <ns0:shade val="100000"/>
                <ns0:satMod val="130000"/>
              </ns0:schemeClr>
            </ns0:gs>
            <ns0:gs pos="100000">
              <ns0:schemeClr val="phClr">
                <ns0:tint val="50000"/>
                <ns0:shade val="100000"/>
                <ns0:satMod val="350000"/>
              </ns0:schemeClr>
            </ns0:gs>
          </ns0:gsLst>
          <ns0:lin ang="16200000" scaled="0"/>
        </ns0:gradFill>
      </ns0:fillStyleLst>
      <ns0:lnStyleLst>
        <ns0:ln w="9525" cap="flat" cmpd="sng" algn="ctr">
          <ns0:solidFill>
            <ns0:schemeClr val="phClr">
              <ns0:shade val="95000"/>
              <ns0:satMod val="105000"/>
            </ns0:schemeClr>
          </ns0:solidFill>
          <ns0:prstDash val="solid"/>
        </ns0:ln>
        <ns0:ln w="25400" cap="flat" cmpd="sng" algn="ctr">
          <ns0:solidFill>
            <ns0:schemeClr val="phClr"/>
          </ns0:solidFill>
          <ns0:prstDash val="solid"/>
        </ns0:ln>
        <ns0:ln w="38100" cap="flat" cmpd="sng" algn="ctr">
          <ns0:solidFill>
            <ns0:schemeClr val="phClr"/>
          </ns0:solidFill>
          <ns0:prstDash val="solid"/>
        </ns0:ln>
      </ns0:lnStyleLst>
      <ns0:effectStyleLst>
        <ns0:effectStyle>
          <ns0:effectLst>
            <ns0:outerShdw blurRad="40000" dist="20000" dir="5400000" rotWithShape="0">
              <ns0:srgbClr val="000000">
                <ns0:alpha val="38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</ns0:effectStyle>
        <ns0:effectStyle>
          <ns0:effectLst>
            <ns0:outerShdw blurRad="40000" dist="23000" dir="5400000" rotWithShape="0">
              <ns0:srgbClr val="000000">
                <ns0:alpha val="35000"/>
              </ns0:srgbClr>
            </ns0:outerShdw>
          </ns0:effectLst>
          <ns0:scene3d>
            <ns0:camera prst="orthographicFront">
              <ns0:rot lat="0" lon="0" rev="0"/>
            </ns0:camera>
            <ns0:lightRig rig="threePt" dir="t">
              <ns0:rot lat="0" lon="0" rev="1200000"/>
            </ns0:lightRig>
          </ns0:scene3d>
          <ns0:sp3d>
            <ns0:bevelT w="63500" h="25400"/>
          </ns0:sp3d>
        </ns0:effectStyle>
      </ns0:effectStyleLst>
      <ns0:bgFillStyleLst>
        <ns0:solidFill>
          <ns0:schemeClr val="phClr"/>
        </ns0:solidFill>
        <ns0:gradFill rotWithShape="1">
          <ns0:gsLst>
            <ns0:gs pos="0">
              <ns0:schemeClr val="phClr">
                <ns0:tint val="40000"/>
                <ns0:satMod val="350000"/>
              </ns0:schemeClr>
            </ns0:gs>
            <ns0:gs pos="40000">
              <ns0:schemeClr val="phClr">
                <ns0:tint val="45000"/>
                <ns0:shade val="99000"/>
                <ns0:satMod val="350000"/>
              </ns0:schemeClr>
            </ns0:gs>
            <ns0:gs pos="100000">
              <ns0:schemeClr val="phClr">
                <ns0:shade val="20000"/>
                <ns0:satMod val="255000"/>
              </ns0:schemeClr>
            </ns0:gs>
          </ns0:gsLst>
          <ns0:path path="circle">
            <ns0:fillToRect l="50000" t="-80000" r="50000" b="180000"/>
          </ns0:path>
        </ns0:gradFill>
        <ns0:gradFill rotWithShape="1">
          <ns0:gsLst>
            <ns0:gs pos="0">
              <ns0:schemeClr val="phClr">
                <ns0:tint val="80000"/>
                <ns0:satMod val="300000"/>
              </ns0:schemeClr>
            </ns0:gs>
            <ns0:gs pos="100000">
              <ns0:schemeClr val="phClr">
                <ns0:shade val="30000"/>
                <ns0:satMod val="200000"/>
              </ns0:schemeClr>
            </ns0:gs>
          </ns0:gsLst>
          <ns0:path path="circle">
            <ns0:fillToRect l="50000" t="50000" r="50000" b="50000"/>
          </ns0:path>
        </ns0:gradFill>
      </ns0:bgFillStyleLst>
    </ns0:fmtScheme>
  </ns0:themeElements>
  <ns0:objectDefaults>
    <ns0:spDef>
      <ns0:spPr/>
      <ns0:bodyPr/>
      <ns0:lstStyle/>
      <ns0:style>
        <ns0:lnRef idx="1">
          <ns0:schemeClr val="accent1"/>
        </ns0:lnRef>
        <ns0:fillRef idx="3">
          <ns0:schemeClr val="accent1"/>
        </ns0:fillRef>
        <ns0:effectRef idx="2">
          <ns0:schemeClr val="accent1"/>
        </ns0:effectRef>
        <ns0:fontRef idx="minor">
          <ns0:schemeClr val="lt1"/>
        </ns0:fontRef>
      </ns0:style>
    </ns0:spDef>
    <ns0:lnDef>
      <ns0:spPr/>
      <ns0:bodyPr/>
      <ns0:lstStyle/>
      <ns0:style>
        <ns0:lnRef idx="2">
          <ns0:schemeClr val="accent1"/>
        </ns0:lnRef>
        <ns0:fillRef idx="0">
          <ns0:schemeClr val="accent1"/>
        </ns0:fillRef>
        <ns0:effectRef idx="1">
          <ns0:schemeClr val="accent1"/>
        </ns0:effectRef>
        <ns0:fontRef idx="minor">
          <ns0:schemeClr val="tx1"/>
        </ns0:fontRef>
      </ns0:style>
    </ns0:lnDef>
  </ns0:objectDefaults>
  <ns0:extraClrSchemeLst/>
</ns0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