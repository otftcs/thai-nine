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[Practice — moved to notes, no room on slide]</a:t>
            </a:r>
          </a:p>
          <a:p>
            <a:r>
              <a:t>• Listen and repeat: ศูนย์, หนึ่ง, สอง, สาม, สี่, ห้า. Now backwards.</a:t>
            </a:r>
          </a:p>
          <a:p>
            <a:r>
              <a:t>• Pause-and-produce: I say a number in English. Say the Thai before I show it. Two. Four. Zero. Five.</a:t>
            </a:r>
          </a:p>
          <a:p>
            <a:r>
              <a:t>• Room number drill: room 301? สาม-ศูนย์-หนึ่ง. Room 205? สอง-ศูนย์-ห้า. Your turn.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[Practice — moved to notes, no room on slide]</a:t>
            </a:r>
          </a:p>
          <a:p>
            <a:r>
              <a:t>• Response-building: I ask เบอร์อะไร. Room 409? สี่-ศูนย์-เก้า. Room 108? หนึ่ง-ศูนย์-แปด.</a:t>
            </a:r>
          </a:p>
          <a:p>
            <a:r>
              <a:t>• Substitution: build your age sentence. Thirty? ผมอายุสามสิบปีครับ. Twenty-five? ฉันอายุยี่สิบห้าปีค่ะ.</a:t>
            </a:r>
          </a:p>
          <a:p>
            <a:r>
              <a:t>• Pause-and-produce: someone asks คุณอายุเท่าไหร่. Say your real age in Thai.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[Practice — moved to notes, no room on slide]</a:t>
            </a:r>
          </a:p>
          <a:p>
            <a:r>
              <a:t>• Tone echo: สี่ sìi — repeat low. สี sǐi — repeat rising.</a:t>
            </a:r>
          </a:p>
          <a:p>
            <a:r>
              <a:t>• Minimal pair: I say one. Is it four or colour? Answer before I show it.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07105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First Contact and Courtesy  ·  A0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707105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M01-L004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42032"/>
            <a:ext cx="707105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Numbers 0 to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4261104"/>
            <a:ext cx="670529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Lesson focus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4645152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4553712"/>
            <a:ext cx="656813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You can understand and say the digits needed for age, room numbers, and basic counting.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5175504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5084064"/>
            <a:ext cx="656813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Say your age, count objects, and give a simple number clearly.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10058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Immersion Thai with Nine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Lesson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What you will 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00400" cy="12344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8191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183794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You can understand and say the digits needed for age, room numbers, and basic counting.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417320"/>
            <a:ext cx="3200400" cy="12344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1416" y="158191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183794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You can recycle recent vocabulary while using number pronunciation control in short controlled output.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63240"/>
            <a:ext cx="3200400" cy="12344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2278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48386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Say your age, count objects, and give a simple number clearly.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3063240"/>
            <a:ext cx="3200400" cy="12344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32278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348386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Recognize slowly spoken digits in age and number contexts.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Digits 0 to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7071055" cy="6858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435608"/>
            <a:ext cx="73152" cy="41148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399032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ศูนย์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(sǔun)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709928"/>
            <a:ext cx="661385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0 — zero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30552"/>
            <a:ext cx="7071055" cy="6858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240280"/>
            <a:ext cx="73152" cy="41148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203704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หนึ่ง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(nùeng)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514600"/>
            <a:ext cx="661385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1 — 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35224"/>
            <a:ext cx="7071055" cy="6858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044952"/>
            <a:ext cx="73152" cy="41148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008376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สอง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(sǎawng)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319272"/>
            <a:ext cx="661385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2 — two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39896"/>
            <a:ext cx="7071055" cy="6858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3849624"/>
            <a:ext cx="73152" cy="41148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813048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สาม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(sǎam)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123944"/>
            <a:ext cx="661385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3 — three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44568"/>
            <a:ext cx="7071055" cy="6858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4654296"/>
            <a:ext cx="73152" cy="41148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4617720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สี่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(sìi)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928616"/>
            <a:ext cx="661385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4 — four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349240"/>
            <a:ext cx="7071055" cy="6858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680" y="5458968"/>
            <a:ext cx="73152" cy="41148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5422392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ห้า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(hâa)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5733288"/>
            <a:ext cx="661385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5 — five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Digits 6 to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7071055" cy="6858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435608"/>
            <a:ext cx="73152" cy="41148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399032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หก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(hòk)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709928"/>
            <a:ext cx="661385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6 — six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30552"/>
            <a:ext cx="7071055" cy="6858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240280"/>
            <a:ext cx="73152" cy="41148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203704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เจ็ด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(jèt)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514600"/>
            <a:ext cx="661385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7 — seven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35224"/>
            <a:ext cx="7071055" cy="6858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044952"/>
            <a:ext cx="73152" cy="41148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008376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แปด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(bpàet)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319272"/>
            <a:ext cx="661385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8 — eight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39896"/>
            <a:ext cx="7071055" cy="6858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3849624"/>
            <a:ext cx="73152" cy="41148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813048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เก้า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(gâo)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123944"/>
            <a:ext cx="661385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9 — nine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44568"/>
            <a:ext cx="7071055" cy="6858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4654296"/>
            <a:ext cx="73152" cy="41148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4617720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สิบ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(sìp)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928616"/>
            <a:ext cx="661385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10 — ten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5632704"/>
            <a:ext cx="9692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lang="en-US" altLang="en-US">
                <a:solidFill>
                  <a:srgbClr val="C96F4A"/>
                </a:solidFill>
                <a:latin typeface="Sarabun"/>
                <a:ea typeface="Sarabun"/>
                <a:cs typeface="Sarabun"/>
              </a:rPr>
              <a:t>Practice</a:t>
            </a:r>
          </a:p>
        </p:txBody>
      </p:sp>
      <p:sp>
        <p:nvSpPr>
          <p:cNvPr id="27" name="Oval 26"/>
          <p:cNvSpPr/>
          <p:nvPr/>
        </p:nvSpPr>
        <p:spPr>
          <a:xfrm>
            <a:off x="932688" y="6016752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5925312"/>
            <a:ext cx="9555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Listen and repeat: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หก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(hòk)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เจ็ด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(jèt)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แปด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(bpàet)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เก้า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(gâo)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สิบ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(sìp)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 Now count 0 to 10 from memory.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Ask what number and say your 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35608"/>
            <a:ext cx="6613855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เบอร์อะไร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(ber à-rai)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203704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what number?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80720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715768"/>
            <a:ext cx="6613855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อายุ...ปี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(aa-yú ... bpii)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483864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... years 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86200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408736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995928"/>
            <a:ext cx="6613855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ผมอายุ...ปี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(phǒm aa-yú ... bpii)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764024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I am ... years old (male)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66360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536752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5276088"/>
            <a:ext cx="6613855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ฉันอายุ...ปี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(chǎn aa-yú ... bpii)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6044184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I am ... years old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Pronunciation: </a:t>
            </a:r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สี่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(sìi)</a:t>
            </a:r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vs </a:t>
            </a:r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สี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(sǐi)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35608"/>
            <a:ext cx="6613855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สี่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(sìi)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203704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four — low tone (voice stays low)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91256"/>
            <a:ext cx="6613855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สี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(sǐi)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959352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colour — rising tone (voice lifts)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37176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946904"/>
            <a:ext cx="6613855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เก้า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(gâo)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715000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nine — falling tone (voice drops)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Roleplay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Roleplay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069848"/>
            <a:ext cx="58366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สวัสดีครับ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(sà-wàt-dii khráp)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353312"/>
            <a:ext cx="58366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Hello.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2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Staff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847088"/>
            <a:ext cx="58366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สวัสดีค่ะ เบอร์ห้องอะไรคะ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(sà-wàt-dii khâ ber hâwng à-rai khá)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0552"/>
            <a:ext cx="58366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Hello. What room number?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624328"/>
            <a:ext cx="58366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ห้า-ศูนย์-สองครับ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(hâa-sǔun-sǎawng khráp)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907792"/>
            <a:ext cx="58366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502.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2900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Staff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401568"/>
            <a:ext cx="8823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ค่ะ คุณอายุเท่าไหร่คะ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(khâ khun aa-yú thâo-rài khá)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685032"/>
            <a:ext cx="8823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How old are you?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0624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178808"/>
            <a:ext cx="8823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ผมอายุสามสิบปีครับ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(phǒm aa-yú sǎam-sìp bpii khráp)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462272"/>
            <a:ext cx="8823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I am thirty.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8348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Staff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4956048"/>
            <a:ext cx="8823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ขอบคุณค่ะ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(khàawp-khun khâ)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5239512"/>
            <a:ext cx="8823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Thank you.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563624"/>
            <a:ext cx="670529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What you can now do</a:t>
            </a:r>
          </a:p>
        </p:txBody>
      </p:sp>
      <p:sp>
        <p:nvSpPr>
          <p:cNvPr id="7" name="Oval 6"/>
          <p:cNvSpPr/>
          <p:nvPr/>
        </p:nvSpPr>
        <p:spPr>
          <a:xfrm>
            <a:off x="932688" y="1947672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856232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Count 0 to 5 in Thai. Go.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276856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185416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Now 6 to 10.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2606040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514600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Ask 'what number?'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เบอร์อะไร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(ber à-rai)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2935224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843784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Say 'I am 30 years old' in Thai.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64408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172968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สี่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(sìi)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is low tone. Rising tone means what?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306824"/>
            <a:ext cx="9692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lang="en-US" altLang="en-US">
                <a:solidFill>
                  <a:srgbClr val="7A8F54"/>
                </a:solidFill>
                <a:latin typeface="Sarabun"/>
                <a:ea typeface="Sarabun"/>
                <a:cs typeface="Sarabun"/>
              </a:rPr>
              <a:t>Remember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690872"/>
            <a:ext cx="82296" cy="82296"/>
          </a:xfrm>
          <a:prstGeom prst="ellipse">
            <a:avLst/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99432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สี่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(sìi)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is low tone. Rising tone means what?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746504"/>
            <a:ext cx="670529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lang="en-US" altLang="en-US">
                <a:solidFill>
                  <a:srgbClr val="C96F4A"/>
                </a:solidFill>
                <a:latin typeface="Sarabun"/>
                <a:ea typeface="Sarabun"/>
                <a:cs typeface="Sarabun"/>
              </a:rPr>
              <a:t>Next steps</a:t>
            </a:r>
          </a:p>
        </p:txBody>
      </p:sp>
      <p:sp>
        <p:nvSpPr>
          <p:cNvPr id="7" name="Oval 6"/>
          <p:cNvSpPr/>
          <p:nvPr/>
        </p:nvSpPr>
        <p:spPr>
          <a:xfrm>
            <a:off x="932688" y="2130552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39112"/>
            <a:ext cx="6568135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By the end, you can count 0-10, ask what number, say your age, and handle digit-by-digit codes like room numbers.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862072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770632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Next: First Contact and Courtesy continues.</a:t>
            </a:r>
          </a:p>
        </p:txBody>
      </p:sp>
    </p:spTree>
  </p:cSld>
  <p:clrMapOvr>
    <a:masterClrMapping/>
  </p:clrMapOvr>
</p:sld>
</file>

<file path=ppt/theme/theme1.xml><?xml version="1.0" encoding="utf-8"?>
<ns0:theme xmlns:ns0="http://schemas.openxmlformats.org/drawingml/2006/main" name="Office Theme">
  <ns0:themeElements>
    <ns0:clrScheme name="Office">
      <ns0:dk1>
        <ns0:sysClr val="windowText" lastClr="000000"/>
      </ns0:dk1>
      <ns0:lt1>
        <ns0:sysClr val="window" lastClr="FFFFFF"/>
      </ns0:lt1>
      <ns0:dk2>
        <ns0:srgbClr val="1F497D"/>
      </ns0:dk2>
      <ns0:lt2>
        <ns0:srgbClr val="EEECE1"/>
      </ns0:lt2>
      <ns0:accent1>
        <ns0:srgbClr val="4F81BD"/>
      </ns0:accent1>
      <ns0:accent2>
        <ns0:srgbClr val="C0504D"/>
      </ns0:accent2>
      <ns0:accent3>
        <ns0:srgbClr val="9BBB59"/>
      </ns0:accent3>
      <ns0:accent4>
        <ns0:srgbClr val="8064A2"/>
      </ns0:accent4>
      <ns0:accent5>
        <ns0:srgbClr val="4BACC6"/>
      </ns0:accent5>
      <ns0:accent6>
        <ns0:srgbClr val="F79646"/>
      </ns0:accent6>
      <ns0:hlink>
        <ns0:srgbClr val="0000FF"/>
      </ns0:hlink>
      <ns0:folHlink>
        <ns0:srgbClr val="800080"/>
      </ns0:folHlink>
    </ns0:clrScheme>
    <ns0:fontScheme name="Office">
      <ns0:majorFont>
        <ns0:latin typeface="Sarabun"/>
        <ns0:ea typeface="Sarabun"/>
        <ns0:cs typeface="Sarabun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Sarabun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Sarabun"/>
        <ns0:ea typeface="Sarabun"/>
        <ns0:cs typeface="Sarabun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Sarabun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50000"/>
                <ns0:satMod val="300000"/>
              </ns0:schemeClr>
            </ns0:gs>
            <ns0:gs pos="35000">
              <ns0:schemeClr val="phClr">
                <ns0:tint val="37000"/>
                <ns0:satMod val="300000"/>
              </ns0:schemeClr>
            </ns0:gs>
            <ns0:gs pos="100000">
              <ns0:schemeClr val="phClr">
                <ns0:tint val="15000"/>
                <ns0:satMod val="350000"/>
              </ns0:schemeClr>
            </ns0:gs>
          </ns0:gsLst>
          <ns0:lin ang="16200000" scaled="1"/>
        </ns0:gradFill>
        <ns0:gradFill rotWithShape="1">
          <ns0:gsLst>
            <ns0:gs pos="0">
              <ns0:schemeClr val="phClr">
                <ns0:tint val="100000"/>
                <ns0:shade val="100000"/>
                <ns0:satMod val="130000"/>
              </ns0:schemeClr>
            </ns0:gs>
            <ns0:gs pos="100000">
              <ns0:schemeClr val="phClr">
                <ns0:tint val="50000"/>
                <ns0:shade val="100000"/>
                <ns0:satMod val="350000"/>
              </ns0:schemeClr>
            </ns0:gs>
          </ns0:gsLst>
          <ns0:lin ang="16200000" scaled="0"/>
        </ns0:gradFill>
      </ns0:fillStyleLst>
      <ns0:lnStyleLst>
        <ns0:ln w="9525" cap="flat" cmpd="sng" algn="ctr">
          <ns0:solidFill>
            <ns0:schemeClr val="phClr">
              <ns0:shade val="95000"/>
              <ns0:satMod val="105000"/>
            </ns0:schemeClr>
          </ns0:solidFill>
          <ns0:prstDash val="solid"/>
        </ns0:ln>
        <ns0:ln w="25400" cap="flat" cmpd="sng" algn="ctr">
          <ns0:solidFill>
            <ns0:schemeClr val="phClr"/>
          </ns0:solidFill>
          <ns0:prstDash val="solid"/>
        </ns0:ln>
        <ns0:ln w="38100" cap="flat" cmpd="sng" algn="ctr">
          <ns0:solidFill>
            <ns0:schemeClr val="phClr"/>
          </ns0:solidFill>
          <ns0:prstDash val="solid"/>
        </ns0:ln>
      </ns0:lnStyleLst>
      <ns0:effectStyleLst>
        <ns0:effectStyle>
          <ns0:effectLst>
            <ns0:outerShdw blurRad="40000" dist="20000" dir="5400000" rotWithShape="0">
              <ns0:srgbClr val="000000">
                <ns0:alpha val="38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  <ns0:scene3d>
            <ns0:camera prst="orthographicFront">
              <ns0:rot lat="0" lon="0" rev="0"/>
            </ns0:camera>
            <ns0:lightRig rig="threePt" dir="t">
              <ns0:rot lat="0" lon="0" rev="1200000"/>
            </ns0:lightRig>
          </ns0:scene3d>
          <ns0:sp3d>
            <ns0:bevelT w="63500" h="25400"/>
          </ns0:sp3d>
        </ns0:effectStyle>
      </ns0:effectStyleLst>
      <ns0:bgFillStyleLst>
        <ns0:solidFill>
          <ns0:schemeClr val="phClr"/>
        </ns0:solidFill>
        <ns0:gradFill rotWithShape="1">
          <ns0:gsLst>
            <ns0:gs pos="0">
              <ns0:schemeClr val="phClr">
                <ns0:tint val="40000"/>
                <ns0:satMod val="350000"/>
              </ns0:schemeClr>
            </ns0:gs>
            <ns0:gs pos="40000">
              <ns0:schemeClr val="phClr">
                <ns0:tint val="45000"/>
                <ns0:shade val="99000"/>
                <ns0:satMod val="350000"/>
              </ns0:schemeClr>
            </ns0:gs>
            <ns0:gs pos="100000">
              <ns0:schemeClr val="phClr">
                <ns0:shade val="20000"/>
                <ns0:satMod val="255000"/>
              </ns0:schemeClr>
            </ns0:gs>
          </ns0:gsLst>
          <ns0:path path="circle">
            <ns0:fillToRect l="50000" t="-80000" r="50000" b="180000"/>
          </ns0:path>
        </ns0:gradFill>
        <ns0:gradFill rotWithShape="1">
          <ns0:gsLst>
            <ns0:gs pos="0">
              <ns0:schemeClr val="phClr">
                <ns0:tint val="80000"/>
                <ns0:satMod val="300000"/>
              </ns0:schemeClr>
            </ns0:gs>
            <ns0:gs pos="100000">
              <ns0:schemeClr val="phClr">
                <ns0:shade val="30000"/>
                <ns0:satMod val="200000"/>
              </ns0:schemeClr>
            </ns0:gs>
          </ns0:gsLst>
          <ns0:path path="circle">
            <ns0:fillToRect l="50000" t="50000" r="50000" b="50000"/>
          </ns0:path>
        </ns0:gradFill>
      </ns0:bgFillStyleLst>
    </ns0:fmtScheme>
  </ns0:themeElements>
  <ns0:objectDefaults>
    <ns0:spDef>
      <ns0:spPr/>
      <ns0:bodyPr/>
      <ns0:lstStyle/>
      <ns0:style>
        <ns0:lnRef idx="1">
          <ns0:schemeClr val="accent1"/>
        </ns0:lnRef>
        <ns0:fillRef idx="3">
          <ns0:schemeClr val="accent1"/>
        </ns0:fillRef>
        <ns0:effectRef idx="2">
          <ns0:schemeClr val="accent1"/>
        </ns0:effectRef>
        <ns0:fontRef idx="minor">
          <ns0:schemeClr val="lt1"/>
        </ns0:fontRef>
      </ns0:style>
    </ns0:spDef>
    <ns0:lnDef>
      <ns0:spPr/>
      <ns0:bodyPr/>
      <ns0:lstStyle/>
      <ns0:style>
        <ns0:lnRef idx="2">
          <ns0:schemeClr val="accent1"/>
        </ns0:lnRef>
        <ns0:fillRef idx="0">
          <ns0:schemeClr val="accent1"/>
        </ns0:fillRef>
        <ns0:effectRef idx="1">
          <ns0:schemeClr val="accent1"/>
        </ns0:effectRef>
        <ns0:fontRef idx="minor">
          <ns0:schemeClr val="tx1"/>
        </ns0:fontRef>
      </ns0:style>
    </ns0:lnDef>
  </ns0:objectDefaults>
  <ns0:extraClrSchemeLst/>
</ns0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