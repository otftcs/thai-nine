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707105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First Contact and Courtesy  ·  A0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93392"/>
            <a:ext cx="7071055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M01-L004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42032"/>
            <a:ext cx="707105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Numbers 0 to 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114800"/>
            <a:ext cx="7071055" cy="128930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4261104"/>
            <a:ext cx="670529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Lesson focus</a:t>
            </a:r>
          </a:p>
        </p:txBody>
      </p:sp>
      <p:sp>
        <p:nvSpPr>
          <p:cNvPr id="9" name="Oval 8"/>
          <p:cNvSpPr/>
          <p:nvPr/>
        </p:nvSpPr>
        <p:spPr>
          <a:xfrm>
            <a:off x="932688" y="4645152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992" y="4553712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You can understand and say the digits needed for age, room numbers, and basic counting.</a:t>
            </a:r>
          </a:p>
        </p:txBody>
      </p:sp>
      <p:sp>
        <p:nvSpPr>
          <p:cNvPr id="11" name="Oval 10"/>
          <p:cNvSpPr/>
          <p:nvPr/>
        </p:nvSpPr>
        <p:spPr>
          <a:xfrm>
            <a:off x="932688" y="4956048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4864608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Say your age, count objects, and give a simple number clearly.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669280"/>
            <a:ext cx="10058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Immersion Thai with Nine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Lesson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What you will learn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320040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1581912"/>
            <a:ext cx="365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" y="1837944"/>
            <a:ext cx="276148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You can understand and say the digits needed for age, room numbers, and basic counting.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51960" y="1417320"/>
            <a:ext cx="320040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71416" y="1581912"/>
            <a:ext cx="365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71416" y="1837944"/>
            <a:ext cx="276148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You can recycle recent vocabulary while using number pronunciation control in short controlled output.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063240"/>
            <a:ext cx="320040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0976" y="3227832"/>
            <a:ext cx="365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" y="3483864"/>
            <a:ext cx="276148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Say your age, count objects, and give a simple number clearly.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51960" y="3063240"/>
            <a:ext cx="320040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71416" y="3227832"/>
            <a:ext cx="365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71416" y="3483864"/>
            <a:ext cx="276148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Recognize slowly spoken digits in age and number contexts.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Teaching 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Digits 0 to 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32731" y="1325880"/>
            <a:ext cx="2828422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lide-03-digits-0-to-5-thai-number-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7323" y="1490472"/>
            <a:ext cx="2506648" cy="190195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832731" y="3703320"/>
            <a:ext cx="2828422" cy="128930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33899" y="3849624"/>
            <a:ext cx="2462662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lang="en-US" altLang="en-US">
                <a:solidFill>
                  <a:srgbClr val="7A8F54"/>
                </a:solidFill>
                <a:latin typeface="Sarabun"/>
                <a:ea typeface="Sarabun"/>
                <a:cs typeface="Sarabun"/>
              </a:rPr>
              <a:t>Visual rationale</a:t>
            </a:r>
          </a:p>
        </p:txBody>
      </p:sp>
      <p:sp>
        <p:nvSpPr>
          <p:cNvPr id="10" name="Oval 9"/>
          <p:cNvSpPr/>
          <p:nvPr/>
        </p:nvSpPr>
        <p:spPr>
          <a:xfrm>
            <a:off x="5033899" y="4233672"/>
            <a:ext cx="82296" cy="82296"/>
          </a:xfrm>
          <a:prstGeom prst="ellipse">
            <a:avLst/>
          </a:prstGeom>
          <a:solidFill>
            <a:srgbClr val="7A8F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80203" y="4142232"/>
            <a:ext cx="232550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A simple 0-5 digit chart with Arabic numerals helps visual anchoring.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1325880"/>
            <a:ext cx="3889080" cy="685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68680" y="1435608"/>
            <a:ext cx="73152" cy="41148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78992" y="1399032"/>
            <a:ext cx="3431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ศูนย์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(sǔun)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" y="1709928"/>
            <a:ext cx="34318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0 — zero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2130552"/>
            <a:ext cx="3889080" cy="685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68680" y="2240280"/>
            <a:ext cx="73152" cy="41148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78992" y="2203704"/>
            <a:ext cx="3431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หนึ่ง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(nùeng)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8992" y="2514600"/>
            <a:ext cx="34318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1 — one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2935224"/>
            <a:ext cx="3889080" cy="685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68680" y="3044952"/>
            <a:ext cx="73152" cy="41148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78992" y="3008376"/>
            <a:ext cx="3431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สอง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(sǎawng)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" y="3319272"/>
            <a:ext cx="34318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2 — two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3739896"/>
            <a:ext cx="3889080" cy="685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68680" y="3849624"/>
            <a:ext cx="73152" cy="41148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78992" y="3813048"/>
            <a:ext cx="3431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สาม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(sǎam)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8992" y="4123944"/>
            <a:ext cx="34318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3 — three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31520" y="4544568"/>
            <a:ext cx="3889080" cy="685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68680" y="4654296"/>
            <a:ext cx="73152" cy="41148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78992" y="4617720"/>
            <a:ext cx="3431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สี่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(sìi)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8992" y="4928616"/>
            <a:ext cx="34318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4 — four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31520" y="5349240"/>
            <a:ext cx="3889080" cy="685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68680" y="5458968"/>
            <a:ext cx="73152" cy="41148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78992" y="5422392"/>
            <a:ext cx="3431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ห้า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(hâa)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78992" y="5733288"/>
            <a:ext cx="34318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5 — five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31520" y="6336792"/>
            <a:ext cx="10058400" cy="1636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2688" y="6483096"/>
            <a:ext cx="96926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lang="en-US" altLang="en-US">
                <a:solidFill>
                  <a:srgbClr val="C96F4A"/>
                </a:solidFill>
                <a:latin typeface="Sarabun"/>
                <a:ea typeface="Sarabun"/>
                <a:cs typeface="Sarabun"/>
              </a:rPr>
              <a:t>Practice</a:t>
            </a:r>
          </a:p>
        </p:txBody>
      </p:sp>
      <p:sp>
        <p:nvSpPr>
          <p:cNvPr id="38" name="Oval 37"/>
          <p:cNvSpPr/>
          <p:nvPr/>
        </p:nvSpPr>
        <p:spPr>
          <a:xfrm>
            <a:off x="932688" y="6867144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78992" y="6775704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Listen and repeat: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ศูนย์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(sǔun)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,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หนึ่ง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(nùeng)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,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สอง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(sǎawng)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,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สาม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(sǎam)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,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สี่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(sìi)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,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ห้า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(hâa)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 Now backwards.</a:t>
            </a:r>
          </a:p>
        </p:txBody>
      </p:sp>
      <p:sp>
        <p:nvSpPr>
          <p:cNvPr id="40" name="Oval 39"/>
          <p:cNvSpPr/>
          <p:nvPr/>
        </p:nvSpPr>
        <p:spPr>
          <a:xfrm>
            <a:off x="932688" y="7178040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78992" y="7086600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Pause-and-produce: I say a number in English. Say the Thai before I show it. Two. Four. Zero. Five.</a:t>
            </a:r>
          </a:p>
        </p:txBody>
      </p:sp>
      <p:sp>
        <p:nvSpPr>
          <p:cNvPr id="42" name="Oval 41"/>
          <p:cNvSpPr/>
          <p:nvPr/>
        </p:nvSpPr>
        <p:spPr>
          <a:xfrm>
            <a:off x="932688" y="7488936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78992" y="7397496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Room number drill: room 301?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สาม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(sǎam)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-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ศูนย์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(sǔun)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-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หนึ่ง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(nùeng)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 Room 205?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สอง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(sǎawng)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-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ศูนย์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(sǔun)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-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ห้า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(hâa)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 Your turn.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Teaching 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Digits 6 to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3889080" cy="685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435608"/>
            <a:ext cx="73152" cy="41148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399032"/>
            <a:ext cx="3431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หก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(hòk)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1709928"/>
            <a:ext cx="34318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6 — six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130552"/>
            <a:ext cx="3889080" cy="685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2240280"/>
            <a:ext cx="73152" cy="41148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2203704"/>
            <a:ext cx="3431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เจ็ด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(jèt)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2514600"/>
            <a:ext cx="34318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7 — seven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2935224"/>
            <a:ext cx="3889080" cy="685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68680" y="3044952"/>
            <a:ext cx="73152" cy="41148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3008376"/>
            <a:ext cx="3431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แปด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(bpàet)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3319272"/>
            <a:ext cx="34318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8 — eight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3739896"/>
            <a:ext cx="3889080" cy="685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68680" y="3849624"/>
            <a:ext cx="73152" cy="41148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78992" y="3813048"/>
            <a:ext cx="3431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เก้า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(gâo)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" y="4123944"/>
            <a:ext cx="34318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9 — nine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4544568"/>
            <a:ext cx="3889080" cy="685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" y="4654296"/>
            <a:ext cx="73152" cy="41148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78992" y="4617720"/>
            <a:ext cx="3431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สิบ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(sìp)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8992" y="4928616"/>
            <a:ext cx="34318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10 — ten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" y="5532120"/>
            <a:ext cx="10058400" cy="1636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2688" y="5678424"/>
            <a:ext cx="96926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lang="en-US" altLang="en-US">
                <a:solidFill>
                  <a:srgbClr val="C96F4A"/>
                </a:solidFill>
                <a:latin typeface="Sarabun"/>
                <a:ea typeface="Sarabun"/>
                <a:cs typeface="Sarabun"/>
              </a:rPr>
              <a:t>Practice</a:t>
            </a:r>
          </a:p>
        </p:txBody>
      </p:sp>
      <p:sp>
        <p:nvSpPr>
          <p:cNvPr id="28" name="Oval 27"/>
          <p:cNvSpPr/>
          <p:nvPr/>
        </p:nvSpPr>
        <p:spPr>
          <a:xfrm>
            <a:off x="932688" y="6062472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78992" y="5971032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Listen and repeat: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หก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(hòk)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,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เจ็ด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(jèt)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,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แปด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(bpàet)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,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เก้า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(gâo)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,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สิบ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(sìp)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 Now count 0 to 10 from memory.</a:t>
            </a:r>
          </a:p>
        </p:txBody>
      </p:sp>
      <p:sp>
        <p:nvSpPr>
          <p:cNvPr id="30" name="Oval 29"/>
          <p:cNvSpPr/>
          <p:nvPr/>
        </p:nvSpPr>
        <p:spPr>
          <a:xfrm>
            <a:off x="932688" y="6373368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78992" y="6281928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Pause-and-produce: Seven?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เจ็ด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(jèt)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 Ten?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สิบ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(sìp)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 Eight?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แปด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(bpàet)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 Six?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หก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(hòk)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 Nine?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เก้า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(gâo)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</a:t>
            </a:r>
          </a:p>
        </p:txBody>
      </p:sp>
      <p:sp>
        <p:nvSpPr>
          <p:cNvPr id="32" name="Oval 31"/>
          <p:cNvSpPr/>
          <p:nvPr/>
        </p:nvSpPr>
        <p:spPr>
          <a:xfrm>
            <a:off x="932688" y="6684264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78992" y="6592824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Substitution: what floor? Floor 9?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เก้า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(gâo)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 Floor 6?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หก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(hòk)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 Floor 10?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สิบ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(sìp)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Teaching 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Ask what number and say your age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388908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52704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435608"/>
            <a:ext cx="34318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เบอร์อะไร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(ber à-rai)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203704"/>
            <a:ext cx="3431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what number?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606040"/>
            <a:ext cx="388908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280720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2715768"/>
            <a:ext cx="34318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อายุ...ปี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(aa-yú ... bpii)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3483864"/>
            <a:ext cx="3431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... years old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886200"/>
            <a:ext cx="388908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68680" y="408736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3995928"/>
            <a:ext cx="34318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ผมอายุ...ปี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(phǒm aa-yú ... bpii)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4764024"/>
            <a:ext cx="3431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I am ... years old (male)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5166360"/>
            <a:ext cx="388908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68680" y="536752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78992" y="5276088"/>
            <a:ext cx="34318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ฉันอายุ...ปี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(chǎn aa-yú ... bpii)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" y="6044184"/>
            <a:ext cx="3431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I am ... years old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6629400"/>
            <a:ext cx="10058400" cy="1636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2688" y="6775704"/>
            <a:ext cx="96926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lang="en-US" altLang="en-US">
                <a:solidFill>
                  <a:srgbClr val="C96F4A"/>
                </a:solidFill>
                <a:latin typeface="Sarabun"/>
                <a:ea typeface="Sarabun"/>
                <a:cs typeface="Sarabun"/>
              </a:rPr>
              <a:t>Practice</a:t>
            </a:r>
          </a:p>
        </p:txBody>
      </p:sp>
      <p:sp>
        <p:nvSpPr>
          <p:cNvPr id="24" name="Oval 23"/>
          <p:cNvSpPr/>
          <p:nvPr/>
        </p:nvSpPr>
        <p:spPr>
          <a:xfrm>
            <a:off x="932688" y="7159752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78992" y="7068312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Response-building: I ask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เบอร์อะไร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(ber à-rai)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 Room 409?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สี่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(sìi)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-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ศูนย์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(sǔun)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-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เก้า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(gâo)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 Room 108?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หนึ่ง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(nùeng)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-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ศูนย์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(sǔun)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-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แปด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(bpàet)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</a:t>
            </a:r>
          </a:p>
        </p:txBody>
      </p:sp>
      <p:sp>
        <p:nvSpPr>
          <p:cNvPr id="26" name="Oval 25"/>
          <p:cNvSpPr/>
          <p:nvPr/>
        </p:nvSpPr>
        <p:spPr>
          <a:xfrm>
            <a:off x="932688" y="7470648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78992" y="7379208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Substitution: build your age sentence. Thirty?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ผมอายุสามสิบปีครับ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(phǒm aa-yú sǎam-sìp bpii khráp)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 Twenty-five?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ฉัน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(chǎn)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อายุ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(aa-yú)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ยี่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สิบ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(sìp)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ห้า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(hâa)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ปี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(bpii)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ค่ะ.</a:t>
            </a:r>
          </a:p>
        </p:txBody>
      </p:sp>
      <p:sp>
        <p:nvSpPr>
          <p:cNvPr id="28" name="Oval 27"/>
          <p:cNvSpPr/>
          <p:nvPr/>
        </p:nvSpPr>
        <p:spPr>
          <a:xfrm>
            <a:off x="932688" y="7781544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78992" y="7690104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Pause-and-produce: someone asks คุณ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อายุ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(aa-yú)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เท่าไหร่. Say your real age in Thai.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Teaching 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Pronunciation: </a:t>
            </a:r>
            <a:r>
              <a:rPr sz="3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สี่</a:t>
            </a:r>
            <a:r>
              <a:rPr sz="223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(sìi)</a:t>
            </a:r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vs </a:t>
            </a:r>
            <a:r>
              <a:rPr sz="3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สี</a:t>
            </a:r>
            <a:r>
              <a:rPr sz="223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(sǐi)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388908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52704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435608"/>
            <a:ext cx="34318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สี่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(sìi)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203704"/>
            <a:ext cx="3431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four — low tone (voice stays low)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388908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3282696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3191256"/>
            <a:ext cx="34318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สี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(sǐi)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3959352"/>
            <a:ext cx="3431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colour — rising tone (voice lifts)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837176"/>
            <a:ext cx="388908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68680" y="5038344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946904"/>
            <a:ext cx="34318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เก้า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(gâo)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5715000"/>
            <a:ext cx="3431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nine — falling tone (voice drops)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6775704"/>
            <a:ext cx="10058400" cy="128930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" y="6922008"/>
            <a:ext cx="96926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lang="en-US" altLang="en-US">
                <a:solidFill>
                  <a:srgbClr val="C96F4A"/>
                </a:solidFill>
                <a:latin typeface="Sarabun"/>
                <a:ea typeface="Sarabun"/>
                <a:cs typeface="Sarabun"/>
              </a:rPr>
              <a:t>Practice</a:t>
            </a:r>
          </a:p>
        </p:txBody>
      </p:sp>
      <p:sp>
        <p:nvSpPr>
          <p:cNvPr id="20" name="Oval 19"/>
          <p:cNvSpPr/>
          <p:nvPr/>
        </p:nvSpPr>
        <p:spPr>
          <a:xfrm>
            <a:off x="932688" y="7306056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78992" y="7214616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Tone echo: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สี่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(sìi)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sìi — repeat low.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สี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(sǐi)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sǐi — repeat rising.</a:t>
            </a:r>
          </a:p>
        </p:txBody>
      </p:sp>
      <p:sp>
        <p:nvSpPr>
          <p:cNvPr id="22" name="Oval 21"/>
          <p:cNvSpPr/>
          <p:nvPr/>
        </p:nvSpPr>
        <p:spPr>
          <a:xfrm>
            <a:off x="932688" y="7616952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78992" y="7525512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Minimal pair: I say one. Is it four or colour? Answer before I show 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Roleplay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Roleplay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097280"/>
            <a:ext cx="1051560" cy="274320"/>
          </a:xfrm>
          <a:prstGeom prst="roundRect">
            <a:avLst>
              <a:gd name="adj" fmla="val 28000"/>
            </a:avLst>
          </a:prstGeom>
          <a:solidFill>
            <a:srgbClr val="7A8F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You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65960" y="1069848"/>
            <a:ext cx="5836615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สวัสดีครับ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(sà-wàt-dii khráp)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65960" y="1353312"/>
            <a:ext cx="583661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Hello.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874520"/>
            <a:ext cx="1051560" cy="274320"/>
          </a:xfrm>
          <a:prstGeom prst="roundRect">
            <a:avLst>
              <a:gd name="adj" fmla="val 28000"/>
            </a:avLst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Staff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65960" y="1847088"/>
            <a:ext cx="5836615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สวัสดีค่ะ เบอร์ห้องอะไรคะ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(sà-wàt-dii khâ ber hâwng à-rai khá)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2130552"/>
            <a:ext cx="583661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Hello. What room number?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2651760"/>
            <a:ext cx="1051560" cy="274320"/>
          </a:xfrm>
          <a:prstGeom prst="roundRect">
            <a:avLst>
              <a:gd name="adj" fmla="val 28000"/>
            </a:avLst>
          </a:prstGeom>
          <a:solidFill>
            <a:srgbClr val="7A8F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You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65960" y="2624328"/>
            <a:ext cx="5836615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ห้า-ศูนย์-สองครับ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(hâa-sǔun-sǎawng khráp)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65960" y="2907792"/>
            <a:ext cx="583661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502.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429000"/>
            <a:ext cx="1051560" cy="274320"/>
          </a:xfrm>
          <a:prstGeom prst="roundRect">
            <a:avLst>
              <a:gd name="adj" fmla="val 28000"/>
            </a:avLst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Staff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65960" y="3401568"/>
            <a:ext cx="8823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ค่ะ คุณอายุเท่าไหร่คะ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(khâ khun aa-yú thâo-rài khá)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65960" y="3685032"/>
            <a:ext cx="8823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How old are you?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206240"/>
            <a:ext cx="1051560" cy="274320"/>
          </a:xfrm>
          <a:prstGeom prst="roundRect">
            <a:avLst>
              <a:gd name="adj" fmla="val 28000"/>
            </a:avLst>
          </a:prstGeom>
          <a:solidFill>
            <a:srgbClr val="7A8F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You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65960" y="4178808"/>
            <a:ext cx="8823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ผมอายุสามสิบปีครับ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(phǒm aa-yú sǎam-sìp bpii khráp)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65960" y="4462272"/>
            <a:ext cx="8823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I am thirty.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4983480"/>
            <a:ext cx="1051560" cy="274320"/>
          </a:xfrm>
          <a:prstGeom prst="roundRect">
            <a:avLst>
              <a:gd name="adj" fmla="val 28000"/>
            </a:avLst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Staff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65960" y="4956048"/>
            <a:ext cx="8823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ขอบคุณค่ะ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(khàawp-khun khâ)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65960" y="5239512"/>
            <a:ext cx="8823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Thank you.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Recap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7071055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563624"/>
            <a:ext cx="670529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What you can now do</a:t>
            </a:r>
          </a:p>
        </p:txBody>
      </p:sp>
      <p:sp>
        <p:nvSpPr>
          <p:cNvPr id="8" name="Oval 7"/>
          <p:cNvSpPr/>
          <p:nvPr/>
        </p:nvSpPr>
        <p:spPr>
          <a:xfrm>
            <a:off x="932688" y="1947672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992" y="1856232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Count 0 to 5 in Thai. Go.</a:t>
            </a:r>
          </a:p>
        </p:txBody>
      </p:sp>
      <p:sp>
        <p:nvSpPr>
          <p:cNvPr id="10" name="Oval 9"/>
          <p:cNvSpPr/>
          <p:nvPr/>
        </p:nvSpPr>
        <p:spPr>
          <a:xfrm>
            <a:off x="932688" y="2258568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8992" y="2167128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Now 6 to 10.</a:t>
            </a:r>
          </a:p>
        </p:txBody>
      </p:sp>
      <p:sp>
        <p:nvSpPr>
          <p:cNvPr id="12" name="Oval 11"/>
          <p:cNvSpPr/>
          <p:nvPr/>
        </p:nvSpPr>
        <p:spPr>
          <a:xfrm>
            <a:off x="932688" y="2569464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8992" y="2478024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Ask 'what number?'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เบอร์อะไร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(ber à-rai)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</a:t>
            </a:r>
          </a:p>
        </p:txBody>
      </p:sp>
      <p:sp>
        <p:nvSpPr>
          <p:cNvPr id="14" name="Oval 13"/>
          <p:cNvSpPr/>
          <p:nvPr/>
        </p:nvSpPr>
        <p:spPr>
          <a:xfrm>
            <a:off x="932688" y="2880360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78992" y="2788920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Say 'I am 30 years old' in Thai.</a:t>
            </a:r>
          </a:p>
        </p:txBody>
      </p:sp>
      <p:sp>
        <p:nvSpPr>
          <p:cNvPr id="16" name="Oval 15"/>
          <p:cNvSpPr/>
          <p:nvPr/>
        </p:nvSpPr>
        <p:spPr>
          <a:xfrm>
            <a:off x="932688" y="3191256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78992" y="3099816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สี่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(sìi)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is low tone. Rising tone means what?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160520"/>
            <a:ext cx="10058400" cy="128930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" y="4306824"/>
            <a:ext cx="96926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lang="en-US" altLang="en-US">
                <a:solidFill>
                  <a:srgbClr val="7A8F54"/>
                </a:solidFill>
                <a:latin typeface="Sarabun"/>
                <a:ea typeface="Sarabun"/>
                <a:cs typeface="Sarabun"/>
              </a:rPr>
              <a:t>Remember</a:t>
            </a:r>
          </a:p>
        </p:txBody>
      </p:sp>
      <p:sp>
        <p:nvSpPr>
          <p:cNvPr id="20" name="Oval 19"/>
          <p:cNvSpPr/>
          <p:nvPr/>
        </p:nvSpPr>
        <p:spPr>
          <a:xfrm>
            <a:off x="932688" y="4690872"/>
            <a:ext cx="82296" cy="82296"/>
          </a:xfrm>
          <a:prstGeom prst="ellipse">
            <a:avLst/>
          </a:prstGeom>
          <a:solidFill>
            <a:srgbClr val="7A8F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78992" y="4599432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สี่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(sìi)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is low tone. Rising tone means what?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Closing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Closing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7071055" cy="128930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746504"/>
            <a:ext cx="670529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lang="en-US" altLang="en-US">
                <a:solidFill>
                  <a:srgbClr val="C96F4A"/>
                </a:solidFill>
                <a:latin typeface="Sarabun"/>
                <a:ea typeface="Sarabun"/>
                <a:cs typeface="Sarabun"/>
              </a:rPr>
              <a:t>Next steps</a:t>
            </a:r>
          </a:p>
        </p:txBody>
      </p:sp>
      <p:sp>
        <p:nvSpPr>
          <p:cNvPr id="8" name="Oval 7"/>
          <p:cNvSpPr/>
          <p:nvPr/>
        </p:nvSpPr>
        <p:spPr>
          <a:xfrm>
            <a:off x="932688" y="2130552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992" y="2039112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By the end, you can count 0-10, ask what number, say your age, and handle digit-by-digit codes like room numbers.</a:t>
            </a:r>
          </a:p>
        </p:txBody>
      </p:sp>
      <p:sp>
        <p:nvSpPr>
          <p:cNvPr id="10" name="Oval 9"/>
          <p:cNvSpPr/>
          <p:nvPr/>
        </p:nvSpPr>
        <p:spPr>
          <a:xfrm>
            <a:off x="932688" y="2441448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8992" y="2350008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Next: First Contact and Courtesy continues.</a:t>
            </a:r>
          </a:p>
        </p:txBody>
      </p:sp>
    </p:spTree>
  </p:cSld>
  <p:clrMapOvr>
    <a:masterClrMapping/>
  </p:clrMapOvr>
</p:sld>
</file>

<file path=ppt/theme/theme1.xml><?xml version="1.0" encoding="utf-8"?>
<ns0:theme xmlns:ns0="http://schemas.openxmlformats.org/drawingml/2006/main" name="Office Theme">
  <ns0:themeElements>
    <ns0:clrScheme name="Office">
      <ns0:dk1>
        <ns0:sysClr val="windowText" lastClr="000000"/>
      </ns0:dk1>
      <ns0:lt1>
        <ns0:sysClr val="window" lastClr="FFFFFF"/>
      </ns0:lt1>
      <ns0:dk2>
        <ns0:srgbClr val="1F497D"/>
      </ns0:dk2>
      <ns0:lt2>
        <ns0:srgbClr val="EEECE1"/>
      </ns0:lt2>
      <ns0:accent1>
        <ns0:srgbClr val="4F81BD"/>
      </ns0:accent1>
      <ns0:accent2>
        <ns0:srgbClr val="C0504D"/>
      </ns0:accent2>
      <ns0:accent3>
        <ns0:srgbClr val="9BBB59"/>
      </ns0:accent3>
      <ns0:accent4>
        <ns0:srgbClr val="8064A2"/>
      </ns0:accent4>
      <ns0:accent5>
        <ns0:srgbClr val="4BACC6"/>
      </ns0:accent5>
      <ns0:accent6>
        <ns0:srgbClr val="F79646"/>
      </ns0:accent6>
      <ns0:hlink>
        <ns0:srgbClr val="0000FF"/>
      </ns0:hlink>
      <ns0:folHlink>
        <ns0:srgbClr val="800080"/>
      </ns0:folHlink>
    </ns0:clrScheme>
    <ns0:fontScheme name="Office">
      <ns0:majorFont>
        <ns0:latin typeface="Sarabun"/>
        <ns0:ea typeface="Sarabun"/>
        <ns0:cs typeface="Sarabun"/>
        <ns0:font script="Jpan" typeface="ＭＳ Ｐゴシック"/>
        <ns0:font script="Hang" typeface="맑은 고딕"/>
        <ns0:font script="Hans" typeface="宋体"/>
        <ns0:font script="Hant" typeface="新細明體"/>
        <ns0:font script="Arab" typeface="Times New Roman"/>
        <ns0:font script="Hebr" typeface="Times New Roman"/>
        <ns0:font script="Thai" typeface="Sarabun"/>
        <ns0:font script="Ethi" typeface="Nyala"/>
        <ns0:font script="Beng" typeface="Vrinda"/>
        <ns0:font script="Gujr" typeface="Shruti"/>
        <ns0:font script="Khmr" typeface="MoolBoran"/>
        <ns0:font script="Knda" typeface="Tunga"/>
        <ns0:font script="Guru" typeface="Raavi"/>
        <ns0:font script="Cans" typeface="Euphemia"/>
        <ns0:font script="Cher" typeface="Plantagenet Cherokee"/>
        <ns0:font script="Yiii" typeface="Microsoft Yi Baiti"/>
        <ns0:font script="Tibt" typeface="Microsoft Himalaya"/>
        <ns0:font script="Thaa" typeface="MV Boli"/>
        <ns0:font script="Deva" typeface="Mangal"/>
        <ns0:font script="Telu" typeface="Gautami"/>
        <ns0:font script="Taml" typeface="Latha"/>
        <ns0:font script="Syrc" typeface="Estrangelo Edessa"/>
        <ns0:font script="Orya" typeface="Kalinga"/>
        <ns0:font script="Mlym" typeface="Kartika"/>
        <ns0:font script="Laoo" typeface="DokChampa"/>
        <ns0:font script="Sinh" typeface="Iskoola Pota"/>
        <ns0:font script="Mong" typeface="Mongolian Baiti"/>
        <ns0:font script="Viet" typeface="Times New Roman"/>
        <ns0:font script="Uigh" typeface="Microsoft Uighur"/>
        <ns0:font script="Geor" typeface="Sylfaen"/>
      </ns0:majorFont>
      <ns0:minorFont>
        <ns0:latin typeface="Sarabun"/>
        <ns0:ea typeface="Sarabun"/>
        <ns0:cs typeface="Sarabun"/>
        <ns0:font script="Jpan" typeface="ＭＳ Ｐゴシック"/>
        <ns0:font script="Hang" typeface="맑은 고딕"/>
        <ns0:font script="Hans" typeface="宋体"/>
        <ns0:font script="Hant" typeface="新細明體"/>
        <ns0:font script="Arab" typeface="Arial"/>
        <ns0:font script="Hebr" typeface="Arial"/>
        <ns0:font script="Thai" typeface="Sarabun"/>
        <ns0:font script="Ethi" typeface="Nyala"/>
        <ns0:font script="Beng" typeface="Vrinda"/>
        <ns0:font script="Gujr" typeface="Shruti"/>
        <ns0:font script="Khmr" typeface="DaunPenh"/>
        <ns0:font script="Knda" typeface="Tunga"/>
        <ns0:font script="Guru" typeface="Raavi"/>
        <ns0:font script="Cans" typeface="Euphemia"/>
        <ns0:font script="Cher" typeface="Plantagenet Cherokee"/>
        <ns0:font script="Yiii" typeface="Microsoft Yi Baiti"/>
        <ns0:font script="Tibt" typeface="Microsoft Himalaya"/>
        <ns0:font script="Thaa" typeface="MV Boli"/>
        <ns0:font script="Deva" typeface="Mangal"/>
        <ns0:font script="Telu" typeface="Gautami"/>
        <ns0:font script="Taml" typeface="Latha"/>
        <ns0:font script="Syrc" typeface="Estrangelo Edessa"/>
        <ns0:font script="Orya" typeface="Kalinga"/>
        <ns0:font script="Mlym" typeface="Kartika"/>
        <ns0:font script="Laoo" typeface="DokChampa"/>
        <ns0:font script="Sinh" typeface="Iskoola Pota"/>
        <ns0:font script="Mong" typeface="Mongolian Baiti"/>
        <ns0:font script="Viet" typeface="Arial"/>
        <ns0:font script="Uigh" typeface="Microsoft Uighur"/>
        <ns0:font script="Geor" typeface="Sylfaen"/>
      </ns0:minorFont>
    </ns0:fontScheme>
    <ns0:fmtScheme name="Office">
      <ns0:fillStyleLst>
        <ns0:solidFill>
          <ns0:schemeClr val="phClr"/>
        </ns0:solidFill>
        <ns0:gradFill rotWithShape="1">
          <ns0:gsLst>
            <ns0:gs pos="0">
              <ns0:schemeClr val="phClr">
                <ns0:tint val="50000"/>
                <ns0:satMod val="300000"/>
              </ns0:schemeClr>
            </ns0:gs>
            <ns0:gs pos="35000">
              <ns0:schemeClr val="phClr">
                <ns0:tint val="37000"/>
                <ns0:satMod val="300000"/>
              </ns0:schemeClr>
            </ns0:gs>
            <ns0:gs pos="100000">
              <ns0:schemeClr val="phClr">
                <ns0:tint val="15000"/>
                <ns0:satMod val="350000"/>
              </ns0:schemeClr>
            </ns0:gs>
          </ns0:gsLst>
          <ns0:lin ang="16200000" scaled="1"/>
        </ns0:gradFill>
        <ns0:gradFill rotWithShape="1">
          <ns0:gsLst>
            <ns0:gs pos="0">
              <ns0:schemeClr val="phClr">
                <ns0:tint val="100000"/>
                <ns0:shade val="100000"/>
                <ns0:satMod val="130000"/>
              </ns0:schemeClr>
            </ns0:gs>
            <ns0:gs pos="100000">
              <ns0:schemeClr val="phClr">
                <ns0:tint val="50000"/>
                <ns0:shade val="100000"/>
                <ns0:satMod val="350000"/>
              </ns0:schemeClr>
            </ns0:gs>
          </ns0:gsLst>
          <ns0:lin ang="16200000" scaled="0"/>
        </ns0:gradFill>
      </ns0:fillStyleLst>
      <ns0:lnStyleLst>
        <ns0:ln w="9525" cap="flat" cmpd="sng" algn="ctr">
          <ns0:solidFill>
            <ns0:schemeClr val="phClr">
              <ns0:shade val="95000"/>
              <ns0:satMod val="105000"/>
            </ns0:schemeClr>
          </ns0:solidFill>
          <ns0:prstDash val="solid"/>
        </ns0:ln>
        <ns0:ln w="25400" cap="flat" cmpd="sng" algn="ctr">
          <ns0:solidFill>
            <ns0:schemeClr val="phClr"/>
          </ns0:solidFill>
          <ns0:prstDash val="solid"/>
        </ns0:ln>
        <ns0:ln w="38100" cap="flat" cmpd="sng" algn="ctr">
          <ns0:solidFill>
            <ns0:schemeClr val="phClr"/>
          </ns0:solidFill>
          <ns0:prstDash val="solid"/>
        </ns0:ln>
      </ns0:lnStyleLst>
      <ns0:effectStyleLst>
        <ns0:effectStyle>
          <ns0:effectLst>
            <ns0:outerShdw blurRad="40000" dist="20000" dir="5400000" rotWithShape="0">
              <ns0:srgbClr val="000000">
                <ns0:alpha val="38000"/>
              </ns0:srgbClr>
            </ns0:outerShdw>
          </ns0:effectLst>
        </ns0:effectStyle>
        <ns0:effectStyle>
          <ns0:effectLst>
            <ns0:outerShdw blurRad="40000" dist="23000" dir="5400000" rotWithShape="0">
              <ns0:srgbClr val="000000">
                <ns0:alpha val="35000"/>
              </ns0:srgbClr>
            </ns0:outerShdw>
          </ns0:effectLst>
        </ns0:effectStyle>
        <ns0:effectStyle>
          <ns0:effectLst>
            <ns0:outerShdw blurRad="40000" dist="23000" dir="5400000" rotWithShape="0">
              <ns0:srgbClr val="000000">
                <ns0:alpha val="35000"/>
              </ns0:srgbClr>
            </ns0:outerShdw>
          </ns0:effectLst>
          <ns0:scene3d>
            <ns0:camera prst="orthographicFront">
              <ns0:rot lat="0" lon="0" rev="0"/>
            </ns0:camera>
            <ns0:lightRig rig="threePt" dir="t">
              <ns0:rot lat="0" lon="0" rev="1200000"/>
            </ns0:lightRig>
          </ns0:scene3d>
          <ns0:sp3d>
            <ns0:bevelT w="63500" h="25400"/>
          </ns0:sp3d>
        </ns0:effectStyle>
      </ns0:effectStyleLst>
      <ns0:bgFillStyleLst>
        <ns0:solidFill>
          <ns0:schemeClr val="phClr"/>
        </ns0:solidFill>
        <ns0:gradFill rotWithShape="1">
          <ns0:gsLst>
            <ns0:gs pos="0">
              <ns0:schemeClr val="phClr">
                <ns0:tint val="40000"/>
                <ns0:satMod val="350000"/>
              </ns0:schemeClr>
            </ns0:gs>
            <ns0:gs pos="40000">
              <ns0:schemeClr val="phClr">
                <ns0:tint val="45000"/>
                <ns0:shade val="99000"/>
                <ns0:satMod val="350000"/>
              </ns0:schemeClr>
            </ns0:gs>
            <ns0:gs pos="100000">
              <ns0:schemeClr val="phClr">
                <ns0:shade val="20000"/>
                <ns0:satMod val="255000"/>
              </ns0:schemeClr>
            </ns0:gs>
          </ns0:gsLst>
          <ns0:path path="circle">
            <ns0:fillToRect l="50000" t="-80000" r="50000" b="180000"/>
          </ns0:path>
        </ns0:gradFill>
        <ns0:gradFill rotWithShape="1">
          <ns0:gsLst>
            <ns0:gs pos="0">
              <ns0:schemeClr val="phClr">
                <ns0:tint val="80000"/>
                <ns0:satMod val="300000"/>
              </ns0:schemeClr>
            </ns0:gs>
            <ns0:gs pos="100000">
              <ns0:schemeClr val="phClr">
                <ns0:shade val="30000"/>
                <ns0:satMod val="200000"/>
              </ns0:schemeClr>
            </ns0:gs>
          </ns0:gsLst>
          <ns0:path path="circle">
            <ns0:fillToRect l="50000" t="50000" r="50000" b="50000"/>
          </ns0:path>
        </ns0:gradFill>
      </ns0:bgFillStyleLst>
    </ns0:fmtScheme>
  </ns0:themeElements>
  <ns0:objectDefaults>
    <ns0:spDef>
      <ns0:spPr/>
      <ns0:bodyPr/>
      <ns0:lstStyle/>
      <ns0:style>
        <ns0:lnRef idx="1">
          <ns0:schemeClr val="accent1"/>
        </ns0:lnRef>
        <ns0:fillRef idx="3">
          <ns0:schemeClr val="accent1"/>
        </ns0:fillRef>
        <ns0:effectRef idx="2">
          <ns0:schemeClr val="accent1"/>
        </ns0:effectRef>
        <ns0:fontRef idx="minor">
          <ns0:schemeClr val="lt1"/>
        </ns0:fontRef>
      </ns0:style>
    </ns0:spDef>
    <ns0:lnDef>
      <ns0:spPr/>
      <ns0:bodyPr/>
      <ns0:lstStyle/>
      <ns0:style>
        <ns0:lnRef idx="2">
          <ns0:schemeClr val="accent1"/>
        </ns0:lnRef>
        <ns0:fillRef idx="0">
          <ns0:schemeClr val="accent1"/>
        </ns0:fillRef>
        <ns0:effectRef idx="1">
          <ns0:schemeClr val="accent1"/>
        </ns0:effectRef>
        <ns0:fontRef idx="minor">
          <ns0:schemeClr val="tx1"/>
        </ns0:fontRef>
      </ns0:style>
    </ns0:lnDef>
  </ns0:objectDefaults>
  <ns0:extraClrSchemeLst/>
</ns0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