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Listen and repeat: ศูนย์, หนึ่ง, สอง, สาม, สี่, ห้า. Now backwards.</a:t>
            </a:r>
          </a:p>
          <a:p>
            <a:r>
              <a:t>• Pause-and-produce: I say a number in English. Say the Thai before I show it. Two. Four. Zero. Five.</a:t>
            </a:r>
          </a:p>
          <a:p>
            <a:r>
              <a:t>• Room number drill: room 301? สาม-ศูนย์-หนึ่ง. Room 205? สอง-ศูนย์-ห้า. Your turn.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Response-building: I ask เบอร์อะไร. Room 409? สี่-ศูนย์-เก้า. Room 108? หนึ่ง-ศูนย์-แปด.</a:t>
            </a:r>
          </a:p>
          <a:p>
            <a:r>
              <a:t>• Substitution: build your age sentence. Thirty? ผมอายุสามสิบปีครับ. Twenty-five? ฉันอายุยี่สิบห้าปีค่ะ.</a:t>
            </a:r>
          </a:p>
          <a:p>
            <a:r>
              <a:t>• Pause-and-produce: someone asks คุณอายุเท่าไหร่. Say your real age in Thai.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  <a:p/>
          <a:p>
            <a:r>
              <a:t>[Practice — moved to notes, no room on slide]</a:t>
            </a:r>
          </a:p>
          <a:p>
            <a:r>
              <a:t>• Tone echo: สี่ sìi — repeat low. สี sǐi — repeat rising.</a:t>
            </a:r>
          </a:p>
          <a:p>
            <a:r>
              <a:t>• Minimal pair: I say one. Is it four or colour? Answer before I show it.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70710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7071055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7071055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Numbers 0 to 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42611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464515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4553712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517550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5084064"/>
            <a:ext cx="6568135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understand and say the digits needed for age, room numbers, and basic counting.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You can recycle recent vocabulary while using number pronunciation control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your age, count objects, and give a simple number clearly.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slowly spoken digits in age and number contexts.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0 to 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ศูนย์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sǔun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828800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0 — zero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30552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240280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20370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หนึ่ง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432304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nùeng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633472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 — 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35224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3044952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00837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236976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sǎawng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438144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2 — two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39896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3849624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381304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สาม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041648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sǎam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242816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3 — three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44568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4654296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61772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846320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5047488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4 — four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1520" y="5349240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68680" y="5458968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42239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8992" y="5650992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hâa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8992" y="5852160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5 — five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Digits 6 to 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435608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399032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627632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hòk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1828800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6 — six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130552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240280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203704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2432304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jèt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2633472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7 — seven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2935224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3044952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3008376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3236976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bpàet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3438144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8 — eight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39896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3849624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3813048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4041648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gâo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4242816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9 — nine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544568"/>
            <a:ext cx="7071055" cy="804672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68680" y="4654296"/>
            <a:ext cx="73152" cy="54864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78992" y="4617720"/>
            <a:ext cx="661385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8992" y="4846320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" y="5047488"/>
            <a:ext cx="661385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10 — ten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563270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32" name="Oval 31"/>
          <p:cNvSpPr/>
          <p:nvPr/>
        </p:nvSpPr>
        <p:spPr>
          <a:xfrm>
            <a:off x="932688" y="60167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925312"/>
            <a:ext cx="9555480" cy="4754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หก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(hòk)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เจ็ด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(jèt)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แปด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(bpàet)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(gâo)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สิบ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(sìp)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count 0 to 10 from memory.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what number and say your 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ber à-rai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number?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60604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280720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74320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อายุ...ปี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10896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aa-yú ... bpii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48386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... years old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88620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408736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02336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ผมอายุ...ปี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438912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 aa-yú ... bpii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476402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 (male)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16636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8680" y="536752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30352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ฉันอายุ...ปี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8992" y="566928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chǎn aa-yú ... bpii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8992" y="604418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 am ... years old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vs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(sǐi)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63040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18288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sìi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" y="2203704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four — low tone (voice stays low)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081528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3218688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" y="3584448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sǐi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8992" y="3959352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colour — rising tone (voice lifts)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4837176"/>
            <a:ext cx="7071055" cy="1572768"/>
          </a:xfrm>
          <a:prstGeom prst="round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974336"/>
            <a:ext cx="6613855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เก้า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78992" y="5340096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gâo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8992" y="5715000"/>
            <a:ext cx="661385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nine — falling tone (voice drops)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2984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khráp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5960" y="14996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116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1984248"/>
            <a:ext cx="583661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เบอร์ห้องอะไรคะ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2212848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sà-wàt-dii khâ ber hâwng à-rai khá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414016"/>
            <a:ext cx="5836615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Hello. What room number?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29260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65960" y="28986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ห้า-ศูนย์-สองครับ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1272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hâa-sǔun-sǎawng khráp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3284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502.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840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Staff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38130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ค่ะ คุณอายุเท่าไหร่คะ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0416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khâ khun aa-yú thâo-rài khá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65960" y="42428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How old are you?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7548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You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4727448"/>
            <a:ext cx="88239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ผมอายุสามสิบปีครับ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65960" y="4956048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phǒm aa-yú sǎam-sìp bpii khráp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965960" y="5157216"/>
            <a:ext cx="8823960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thirty.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56362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8562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Count 0 to 5 in Thai. Go.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2768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185416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Now 6 to 10.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260604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2514600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'what number?' </a:t>
            </a:r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เบอร์อะไร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(ber à-rai)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3" name="Oval 12"/>
          <p:cNvSpPr/>
          <p:nvPr/>
        </p:nvSpPr>
        <p:spPr>
          <a:xfrm>
            <a:off x="932688" y="293522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78992" y="2843784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'I am 30 years old' in Thai.</a:t>
            </a:r>
          </a:p>
        </p:txBody>
      </p:sp>
      <p:sp>
        <p:nvSpPr>
          <p:cNvPr id="15" name="Oval 14"/>
          <p:cNvSpPr/>
          <p:nvPr/>
        </p:nvSpPr>
        <p:spPr>
          <a:xfrm>
            <a:off x="932688" y="326440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3172968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2688" y="4306824"/>
            <a:ext cx="96926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18" name="Oval 17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4599432"/>
            <a:ext cx="95554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สี่</a:t>
            </a:r>
            <a:r>
              <a:rPr sz="17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(sìi)</a:t>
            </a:r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is low tone. Rising tone means what?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__pip_placeholder__"/>
          <p:cNvSpPr/>
          <p:nvPr/>
        </p:nvSpPr>
        <p:spPr>
          <a:xfrm>
            <a:off x="8351215" y="0"/>
            <a:ext cx="3840480" cy="2880360"/>
          </a:xfrm>
          <a:prstGeom prst="rect">
            <a:avLst/>
          </a:prstGeom>
          <a:solidFill>
            <a:srgbClr val="DBE7EC">
              <a:alpha val="30000"/>
            </a:srgbClr>
          </a:solidFill>
          <a:ln w="19050">
            <a:solidFill>
              <a:srgbClr val="355C7D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800" b="1">
                <a:solidFill>
                  <a:srgbClr val="355C7D"/>
                </a:solidFill>
                <a:latin typeface="Sarabun"/>
              </a:rPr>
              <a:t>Nine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7071055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7071055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32688" y="1746504"/>
            <a:ext cx="6705295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7" name="Oval 6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2039112"/>
            <a:ext cx="6568135" cy="6766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you can count 0-10, ask what number, say your age, and handle digit-by-digit codes like room numbers.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286207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770632"/>
            <a:ext cx="6568135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