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762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First Contact and Courtesy  ·  A0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93392"/>
            <a:ext cx="676656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M01-L003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42032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Pronouns and Who Questions: Identify People in Simple Thai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530352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4123943"/>
            <a:ext cx="4937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focus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4507991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4416551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use basic pronouns and ask who someone is.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818887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4727447"/>
            <a:ext cx="4800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Point, identify, and ask who someone is in a mini-dialogue.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6766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Immersion Thai with Nine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What you will learn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use basic pronouns and ask who someone 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41732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58191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416" y="183794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Learner can recycle recent vocabulary while using identity question with ใคร in short controlled output.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Point, identify, and ask who someone is in a mini-dialogue.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063240"/>
            <a:ext cx="32004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71416" y="3227832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3483864"/>
            <a:ext cx="276148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Distinguish pronouns and who-questions in short exchanges.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Use pronouns as practical speaker labels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25880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147218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Teacher cues</a:t>
            </a:r>
          </a:p>
        </p:txBody>
      </p:sp>
      <p:sp>
        <p:nvSpPr>
          <p:cNvPr id="8" name="Oval 7"/>
          <p:cNvSpPr/>
          <p:nvPr/>
        </p:nvSpPr>
        <p:spPr>
          <a:xfrm>
            <a:off x="4818888" y="185623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7647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Keep the contrast practical: self versus another person, not a full grammar table.</a:t>
            </a:r>
          </a:p>
        </p:txBody>
      </p:sp>
      <p:sp>
        <p:nvSpPr>
          <p:cNvPr id="10" name="Oval 9"/>
          <p:cNvSpPr/>
          <p:nvPr/>
        </p:nvSpPr>
        <p:spPr>
          <a:xfrm>
            <a:off x="4818888" y="2167128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0756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Reinforce that Thai often drops pronouns when context is obvious, but today we keep them visible for control.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49039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3895343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On-screen goal</a:t>
            </a:r>
          </a:p>
        </p:txBody>
      </p:sp>
      <p:sp>
        <p:nvSpPr>
          <p:cNvPr id="14" name="Oval 13"/>
          <p:cNvSpPr/>
          <p:nvPr/>
        </p:nvSpPr>
        <p:spPr>
          <a:xfrm>
            <a:off x="4818888" y="4279391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41879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Show self-versus-other pronouns as usable speaking roles, anchored by one familiar review question.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25880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143560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2037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8152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191256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593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I (male speaker)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37176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946904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 / she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592824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702552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คุณชื่ออะไร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chûue à-rai)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74706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what is your name?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36576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581144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34" name="Oval 33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737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Point-and-say drill: teacher points to self or another person and learner chooses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aloud.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18464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Replacement drill: learner keeps the same sentence slot but swaps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/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/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depending on the speaker card.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Use </a:t>
            </a:r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  <a:r>
              <a:rPr sz="223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kheuu...)</a:t>
            </a:r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to introduce and identify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25880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147218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Teacher cues</a:t>
            </a:r>
          </a:p>
        </p:txBody>
      </p:sp>
      <p:sp>
        <p:nvSpPr>
          <p:cNvPr id="8" name="Oval 7"/>
          <p:cNvSpPr/>
          <p:nvPr/>
        </p:nvSpPr>
        <p:spPr>
          <a:xfrm>
            <a:off x="4818888" y="185623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7647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Describe คือ as a linking word with a job, not as a direct dictionary translation only.</a:t>
            </a:r>
          </a:p>
        </p:txBody>
      </p:sp>
      <p:sp>
        <p:nvSpPr>
          <p:cNvPr id="10" name="Oval 9"/>
          <p:cNvSpPr/>
          <p:nvPr/>
        </p:nvSpPr>
        <p:spPr>
          <a:xfrm>
            <a:off x="4818888" y="2167128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0756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Keep the identity frame on screen while swapping only the final slot.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49039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3895343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On-screen goal</a:t>
            </a:r>
          </a:p>
        </p:txBody>
      </p:sp>
      <p:sp>
        <p:nvSpPr>
          <p:cNvPr id="14" name="Oval 13"/>
          <p:cNvSpPr/>
          <p:nvPr/>
        </p:nvSpPr>
        <p:spPr>
          <a:xfrm>
            <a:off x="4818888" y="4279391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41879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Make the linking job of คือ visible through short identity frames, not through dense grammar notes.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25880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143560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kheuu...)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2037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this is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8152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191256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เขาคือ...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kheuu...)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593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 / she is ...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37176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946904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คุณคือ...ใช่ไหม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kheuu... châi mái)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you are ... right?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592824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702552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74706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no / not right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36576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581144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34" name="Oval 33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737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Introduction drill: teacher points to a photo card and learner says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kheuu...)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 the supplied name or role.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18464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Confirmation drill: teacher says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คุณคือ...ใช่ไหม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(khun kheuu... châi mái)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learner answers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who someone is with ใคร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25880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147218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Teacher cues</a:t>
            </a:r>
          </a:p>
        </p:txBody>
      </p:sp>
      <p:sp>
        <p:nvSpPr>
          <p:cNvPr id="8" name="Oval 7"/>
          <p:cNvSpPr/>
          <p:nvPr/>
        </p:nvSpPr>
        <p:spPr>
          <a:xfrm>
            <a:off x="4818888" y="185623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7647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Stress the difference in target: name question versus identity question.</a:t>
            </a:r>
          </a:p>
        </p:txBody>
      </p:sp>
      <p:sp>
        <p:nvSpPr>
          <p:cNvPr id="10" name="Oval 9"/>
          <p:cNvSpPr/>
          <p:nvPr/>
        </p:nvSpPr>
        <p:spPr>
          <a:xfrm>
            <a:off x="4818888" y="2167128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0756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Use the image only as an anchor and keep the wording large and readable.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49039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3895343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On-screen goal</a:t>
            </a:r>
          </a:p>
        </p:txBody>
      </p:sp>
      <p:sp>
        <p:nvSpPr>
          <p:cNvPr id="14" name="Oval 13"/>
          <p:cNvSpPr/>
          <p:nvPr/>
        </p:nvSpPr>
        <p:spPr>
          <a:xfrm>
            <a:off x="4818888" y="4279391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41879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Anchor the who-question to a visible person so the learner feels the difference between asking for a name and asking for identity.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25880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143560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 khrai)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2037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 is he / she?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8152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191256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คนนี้คือใคร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khrai)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593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 is this person?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37176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946904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name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592824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702552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ใช่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(châi)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74706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yes / that is right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36576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581144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34" name="Oval 33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737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Picture cue drill: teacher shows a person card and learner asks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.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18464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Repair drill: teacher gives a wrong identification and learner answers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ไม่ใช่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(mâi châi)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then asks the who-question again.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Teaching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Build a mini identity exchange with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325880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18888" y="1472184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Teacher cues</a:t>
            </a:r>
          </a:p>
        </p:txBody>
      </p:sp>
      <p:sp>
        <p:nvSpPr>
          <p:cNvPr id="8" name="Oval 7"/>
          <p:cNvSpPr/>
          <p:nvPr/>
        </p:nvSpPr>
        <p:spPr>
          <a:xfrm>
            <a:off x="4818888" y="185623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65192" y="1764792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Keep the dialogue build cumulative so the learner sees how older chunks stay alive.</a:t>
            </a:r>
          </a:p>
        </p:txBody>
      </p:sp>
      <p:sp>
        <p:nvSpPr>
          <p:cNvPr id="10" name="Oval 9"/>
          <p:cNvSpPr/>
          <p:nvPr/>
        </p:nvSpPr>
        <p:spPr>
          <a:xfrm>
            <a:off x="4818888" y="2167128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075688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Make the identity question visually dominant before the country follow-up appears.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17720" y="3749039"/>
            <a:ext cx="36118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18888" y="3895343"/>
            <a:ext cx="3246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On-screen goal</a:t>
            </a:r>
          </a:p>
        </p:txBody>
      </p:sp>
      <p:sp>
        <p:nvSpPr>
          <p:cNvPr id="14" name="Oval 13"/>
          <p:cNvSpPr/>
          <p:nvPr/>
        </p:nvSpPr>
        <p:spPr>
          <a:xfrm>
            <a:off x="4818888" y="4279391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65192" y="4187951"/>
            <a:ext cx="3108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Show the conversation growing step by step from greeting to who-question to name and country follow-up.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1325880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1527048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1435608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ขอโทษนะ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 ná)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2203704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excuse 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81528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3282696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78992" y="3191256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คนนี้คือใคร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khrai)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" y="395935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who is this person?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37176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038344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4946904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(bprà-thêet)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57150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country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6592824"/>
            <a:ext cx="3657600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68680" y="6793992"/>
            <a:ext cx="73152" cy="11430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6702552"/>
            <a:ext cx="3200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เขามาจากไทย</a:t>
            </a:r>
            <a:r>
              <a:rPr sz="198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maa-jàak thai)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7470648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82909A"/>
                </a:solidFill>
                <a:latin typeface="Sarabun"/>
                <a:ea typeface="Sarabun"/>
                <a:cs typeface="Sarabun"/>
              </a:rPr>
              <a:t>he / she is from Thailand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434840"/>
            <a:ext cx="365760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4581144"/>
            <a:ext cx="3291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Practice</a:t>
            </a:r>
          </a:p>
        </p:txBody>
      </p:sp>
      <p:sp>
        <p:nvSpPr>
          <p:cNvPr id="34" name="Oval 33"/>
          <p:cNvSpPr/>
          <p:nvPr/>
        </p:nvSpPr>
        <p:spPr>
          <a:xfrm>
            <a:off x="932688" y="496519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8737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Chain drill: learner says สวัสดี, asks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then follows with a country question or confirmation question.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" y="527608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8992" y="5184648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Information-build drill: teacher reveals one detail at a time and learner turns it into an identity sentence or confirmation question.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Roleplay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 learner arrives at a small Thai class and asks about another student.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298448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สวัสดีค่ะ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khâ)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1581912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39112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011680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สวัสดีครับ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(sà-wàt-dii khráp)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2295144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752344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2724912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ขอโทษนะคะ คนนี้คือใครคะ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(khǎaw-thôot ná khá khon níi kheuu khrai khá)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3008376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Excuse me, who is this person?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65576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3438144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คนนี้คือไมค์ครับ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Mike khráp)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5960" y="3721608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This is Mike.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78808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151376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เขามาจากประเทศอะไรคะ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maa-jàak bprà-thêet à-rai khá)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4434840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What country is he from?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892040"/>
            <a:ext cx="1051560" cy="274320"/>
          </a:xfrm>
          <a:prstGeom prst="roundRect">
            <a:avLst>
              <a:gd name="adj" fmla="val 28000"/>
            </a:avLst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200" b="1" lang="en-US" altLang="en-US">
                <a:solidFill>
                  <a:srgbClr val="FFFFFF"/>
                </a:solidFill>
                <a:latin typeface="Sarabun"/>
                <a:ea typeface="Sarabun"/>
                <a:cs typeface="Sarabun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4864608"/>
            <a:ext cx="5349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เขามาจากอังกฤษครับ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maa-jàak ang-grìt khráp)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65960" y="5148072"/>
            <a:ext cx="53492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He is from England.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6583680" cy="1984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563624"/>
            <a:ext cx="6217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What you can now do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1947672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856232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Use pronouns as speaking tools: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for yourself,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for another person.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258568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167128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Use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kheuu...)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เขาคือ...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kheuu...)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to introduce or identify, not as rigid word-for-word translations only.</a:t>
            </a:r>
          </a:p>
        </p:txBody>
      </p:sp>
      <p:sp>
        <p:nvSpPr>
          <p:cNvPr id="12" name="Oval 11"/>
          <p:cNvSpPr/>
          <p:nvPr/>
        </p:nvSpPr>
        <p:spPr>
          <a:xfrm>
            <a:off x="932688" y="2569464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8992" y="2478024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Ask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or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คนนี้คือใคร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(khon níi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when you want identity first, not just a name.</a:t>
            </a:r>
          </a:p>
        </p:txBody>
      </p:sp>
      <p:sp>
        <p:nvSpPr>
          <p:cNvPr id="14" name="Oval 13"/>
          <p:cNvSpPr/>
          <p:nvPr/>
        </p:nvSpPr>
        <p:spPr>
          <a:xfrm>
            <a:off x="932688" y="2880360"/>
            <a:ext cx="82296" cy="82296"/>
          </a:xfrm>
          <a:prstGeom prst="ellipse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2788920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Reuse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(bprà-thêet)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and earlier greeting material so the dialogue grows naturally.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60520"/>
            <a:ext cx="65836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306824"/>
            <a:ext cx="6217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7A8F54"/>
                </a:solidFill>
                <a:latin typeface="Sarabun"/>
                <a:ea typeface="Sarabun"/>
                <a:cs typeface="Sarabun"/>
              </a:rPr>
              <a:t>Remember</a:t>
            </a:r>
          </a:p>
        </p:txBody>
      </p:sp>
      <p:sp>
        <p:nvSpPr>
          <p:cNvPr id="18" name="Oval 17"/>
          <p:cNvSpPr/>
          <p:nvPr/>
        </p:nvSpPr>
        <p:spPr>
          <a:xfrm>
            <a:off x="932688" y="4690872"/>
            <a:ext cx="82296" cy="82296"/>
          </a:xfrm>
          <a:prstGeom prst="ellipse">
            <a:avLst/>
          </a:prstGeom>
          <a:solidFill>
            <a:srgbClr val="7A8F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599432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Reuse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ชื่อ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(chûue)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ประเทศ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(bprà-thêet)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and earlier greeting material so the dialogue grows naturally.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101" y="0"/>
            <a:ext cx="4063593" cy="6858000"/>
          </a:xfrm>
          <a:prstGeom prst="rect">
            <a:avLst/>
          </a:prstGeom>
          <a:solidFill>
            <a:srgbClr val="DBE7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8101" cy="63500"/>
          </a:xfrm>
          <a:prstGeom prst="rect">
            <a:avLst/>
          </a:prstGeom>
          <a:solidFill>
            <a:srgbClr val="35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6766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 lang="en-US" altLang="en-US">
                <a:solidFill>
                  <a:srgbClr val="355C7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"/>
            <a:ext cx="6766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Closing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6583680" cy="12893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D7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746504"/>
            <a:ext cx="6217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 lang="en-US" altLang="en-US">
                <a:solidFill>
                  <a:srgbClr val="C96F4A"/>
                </a:solidFill>
                <a:latin typeface="Sarabun"/>
                <a:ea typeface="Sarabun"/>
                <a:cs typeface="Sarabun"/>
              </a:rPr>
              <a:t>Next steps</a:t>
            </a:r>
          </a:p>
        </p:txBody>
      </p:sp>
      <p:sp>
        <p:nvSpPr>
          <p:cNvPr id="8" name="Oval 7"/>
          <p:cNvSpPr/>
          <p:nvPr/>
        </p:nvSpPr>
        <p:spPr>
          <a:xfrm>
            <a:off x="932688" y="2130552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039112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By the end, the learner can use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ฉัน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(chǎn)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ผม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(phǒm)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and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practically, introduce someone with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นี่คือ...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(nîi kheuu...)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, and ask </a:t>
            </a:r>
            <a:r>
              <a:rPr sz="1500" b="0" i="0" lang="th-TH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เขาคือใคร</a:t>
            </a:r>
            <a:r>
              <a:rPr sz="1500" b="0" i="1" lang="en-US" altLang="en-US">
                <a:solidFill>
                  <a:srgbClr val="566873"/>
                </a:solidFill>
                <a:latin typeface="Sarabun"/>
                <a:ea typeface="Sarabun"/>
                <a:cs typeface="Sarabun"/>
              </a:rPr>
              <a:t> (khǎo kheuu khrai)</a:t>
            </a:r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 without freezing.</a:t>
            </a:r>
          </a:p>
        </p:txBody>
      </p:sp>
      <p:sp>
        <p:nvSpPr>
          <p:cNvPr id="10" name="Oval 9"/>
          <p:cNvSpPr/>
          <p:nvPr/>
        </p:nvSpPr>
        <p:spPr>
          <a:xfrm>
            <a:off x="932688" y="2441448"/>
            <a:ext cx="82296" cy="82296"/>
          </a:xfrm>
          <a:prstGeom prst="ellipse">
            <a:avLst/>
          </a:prstGeom>
          <a:solidFill>
            <a:srgbClr val="C9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2350008"/>
            <a:ext cx="6080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 lang="en-US" altLang="en-US">
                <a:solidFill>
                  <a:srgbClr val="24333D"/>
                </a:solidFill>
                <a:latin typeface="Sarabun"/>
                <a:ea typeface="Sarabun"/>
                <a:cs typeface="Sarabun"/>
              </a:rPr>
              <a:t>Next: First Contact and Courtesy continues.</a:t>
            </a:r>
          </a:p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4F81BD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Sarabun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Sarabun"/>
        <ns0:ea typeface="Sarabun"/>
        <ns0:cs typeface="Sarabun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Sarabun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