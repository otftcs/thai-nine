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Listen and repeat: ครับ khráp. Now: ค่ะ khâ. Repeat each three times.</a:t>
            </a:r>
          </a:p>
          <a:p>
            <a:r>
              <a:t>• Substitution drill: I say สวัสดี — you add ครับ. Now I say สวัสดี again — you add ค่ะ.</a:t>
            </a:r>
          </a:p>
          <a:p>
            <a:r>
              <a:t>• Your turn: I point to male or female. Say the correct full greeting: สวัสดีครับ or สวัสดีค่ะ.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Listen and repeat: ขอบคุณ khàawp-khun. Now: ขอโทษ khǎaw-thôot. Say each three times.</a:t>
            </a:r>
          </a:p>
          <a:p>
            <a:r>
              <a:t>• Discrimination drill: I describe a situation. You choose ขอบคุณ or ขอโทษ — say it aloud. Situation 1: someone helps you carry a bag. Situation 2: you need to pass through a crowd.</a:t>
            </a:r>
          </a:p>
          <a:p>
            <a:r>
              <a:t>• Substitution drill: say ขอบคุณ with ครับ. Now with ค่ะ. Say ขอโทษ with ครับ. Now with ค่ะ.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Listen and repeat: ไม่เป็นไร mâi bpen rai. Say it three times. Now: ใช่ châi. Three times. Now: ไม่ใช่ mâi châi. Three times.</a:t>
            </a:r>
          </a:p>
          <a:p>
            <a:r>
              <a:t>• Response-building drill: I say ขอโทษครับ — what do you say back? Pause and answer. I say ขอบคุณค่ะ — what do you say back?</a:t>
            </a:r>
          </a:p>
          <a:p>
            <a:r>
              <a:t>• Pause-and-produce: is this สวัสดี? ใช่ or ไม่ใช่? Say it aloud before I show the answer.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Tone echo drill: I say ครับ khráp — repeat it. Now I say ค่ะ khâ — repeat it. Feel the difference in your voice.</a:t>
            </a:r>
          </a:p>
          <a:p>
            <a:r>
              <a:t>• Minimal pair choice: I say two words. Which one is the high tone ครับ and which is the falling tone ค่ะ? Point before I tell you.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0710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93392"/>
            <a:ext cx="7071055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42032"/>
            <a:ext cx="707105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Hello and Basic Courtesy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42611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focus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464515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4553712"/>
            <a:ext cx="6568135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greet people politely, thank others, apologize, and respond yes/no in a friendly first encounter.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537667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5285232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Deliver a 2-line greeting exchange with the correct polite ending.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6928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  <p:pic>
        <p:nvPicPr>
          <p:cNvPr id="13" name="Picture 12" descr="slide-01-opener-hello-and-basic-courtes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291840"/>
            <a:ext cx="4389120" cy="23940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greet people politely, thank others, apologize, and respond yes/no in a friendly first encounter.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1732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141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recycle recent vocabulary while using basic affirmation and negation in short controlled output.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6324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Deliver a 2-line greeting exchange with the correct polite ending.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306324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Catch greetings, thanks, apologies, and polite particles in slow speech.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Your first Thai word: </a:t>
            </a:r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6304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8288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sà-wàt-dii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364992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3749040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3657600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repeat: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sà-wàt-dii. Say it three times.</a:t>
            </a:r>
          </a:p>
        </p:txBody>
      </p:sp>
      <p:sp>
        <p:nvSpPr>
          <p:cNvPr id="14" name="Oval 13"/>
          <p:cNvSpPr/>
          <p:nvPr/>
        </p:nvSpPr>
        <p:spPr>
          <a:xfrm>
            <a:off x="932688" y="4078224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3986784"/>
            <a:ext cx="9555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Pause-and-produce: you walk into a hotel lobby. What do you say? Say it aloud before I show the answer.</a:t>
            </a:r>
          </a:p>
        </p:txBody>
      </p:sp>
      <p:pic>
        <p:nvPicPr>
          <p:cNvPr id="16" name="Picture 15" descr="slide-03-your-first-thai-word-your-first-thai-w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291840"/>
            <a:ext cx="4389120" cy="239406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Polite endings: </a:t>
            </a:r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6304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8288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khráp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polite ending (male)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0604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280720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274320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10896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48386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polite ending (female)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88620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08736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2336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438912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sà-wàt-dii khráp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476402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 (male, polite)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16636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8680" y="536752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530352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566928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sà-wàt-dii khâ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604418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 (female, polite)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Thank you and sorry: </a:t>
            </a:r>
            <a:r>
              <a:rPr sz="28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739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28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739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6304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8288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khàawp-khun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thank you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0604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280720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274320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10896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khǎaw-thôot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48386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sorry / excuse 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88620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08736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2336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ขอบคุณครับ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438912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khàawp-khun khráp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476402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thank you (male, polite)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16636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8680" y="536752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530352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ขอโทษค่ะ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566928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khǎaw-thôot khâ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604418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sorry (female, polite)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Respond naturally: </a:t>
            </a:r>
            <a:r>
              <a:rPr sz="28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739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28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739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28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739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6304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8288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mâi bpen rai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it is okay / no problem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3218688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584448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châi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yes / that is right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837176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974336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5340096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mâi châi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57150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no / not right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Pronunciation beat: hearing Thai tones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6304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8288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khráp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high tone — voice rises sharply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3218688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584448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falling tone — starts high, drops down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837176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974336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5340096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khàawp-khun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57150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low tone on khàawp — voice stays low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069848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298448"/>
            <a:ext cx="583661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sà-wàt-dii khráp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1499616"/>
            <a:ext cx="583661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0116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984248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2212848"/>
            <a:ext cx="583661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sà-wàt-dii khâ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414016"/>
            <a:ext cx="583661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9260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2898648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ขอโทษครับ นี่โรงแรมสยามใช่ไหมครับ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127248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khǎaw-thôot khráp nîi roong-raem sǎ-yǎam châi mái khráp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3328416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Excuse me, is this the Siam Hotel?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8404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3813048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ใช่ค่ะ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041648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châi khâ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242816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Yes, it is.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7548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4727448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ขอบคุณครับ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5960" y="4956048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khàawp-khun khráp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5960" y="5157216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Thank you.</a:t>
            </a:r>
          </a:p>
        </p:txBody>
      </p:sp>
      <p:pic>
        <p:nvPicPr>
          <p:cNvPr id="26" name="Picture 25" descr="slide-08-roleplay-rolep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291840"/>
            <a:ext cx="4389120" cy="239406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56362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What you can now do</a:t>
            </a:r>
          </a:p>
        </p:txBody>
      </p:sp>
      <p:sp>
        <p:nvSpPr>
          <p:cNvPr id="7" name="Oval 6"/>
          <p:cNvSpPr/>
          <p:nvPr/>
        </p:nvSpPr>
        <p:spPr>
          <a:xfrm>
            <a:off x="932688" y="194767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856232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How do you say hello politely as a male speaker? Say it aloud.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478024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386584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Someone helps you. What do you say? Add a polite ending.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008376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916936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Someone apologises to you. What is the warm Thai response?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353872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44728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is the difference between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?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386791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77647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sorry politely as a female speaker.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526280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7A8F54"/>
                </a:solidFill>
                <a:latin typeface="Sarabun"/>
                <a:ea typeface="Sarabun"/>
                <a:cs typeface="Sarabun"/>
              </a:rPr>
              <a:t>Remember</a:t>
            </a:r>
          </a:p>
        </p:txBody>
      </p:sp>
      <p:sp>
        <p:nvSpPr>
          <p:cNvPr id="18" name="Oval 17"/>
          <p:cNvSpPr/>
          <p:nvPr/>
        </p:nvSpPr>
        <p:spPr>
          <a:xfrm>
            <a:off x="932688" y="4910328"/>
            <a:ext cx="82296" cy="82296"/>
          </a:xfrm>
          <a:prstGeom prst="ellipse">
            <a:avLst/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481888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sorry politely as a female speaker.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7465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Next steps</a:t>
            </a:r>
          </a:p>
        </p:txBody>
      </p:sp>
      <p:sp>
        <p:nvSpPr>
          <p:cNvPr id="7" name="Oval 6"/>
          <p:cNvSpPr/>
          <p:nvPr/>
        </p:nvSpPr>
        <p:spPr>
          <a:xfrm>
            <a:off x="932688" y="21305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039112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By the end, you can greet, thank, apologise, respond to thanks, and answer yes or no politely.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660904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569464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Next: First Contact and Courtesy continues.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