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51215" y="3977640"/>
            <a:ext cx="3840480" cy="2880360"/>
          </a:xfrm>
          <a:prstGeom prst="rect">
            <a:avLst/>
          </a:prstGeom>
          <a:solidFill>
            <a:srgbClr val="DB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058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First Contact and Courtesy  ·  A0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93392"/>
            <a:ext cx="100584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M01-L001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42032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2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Hello and Basic Courtesy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77639"/>
            <a:ext cx="5303520" cy="12893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4123943"/>
            <a:ext cx="4937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Lesson focus</a:t>
            </a:r>
          </a:p>
        </p:txBody>
      </p:sp>
      <p:sp>
        <p:nvSpPr>
          <p:cNvPr id="9" name="Oval 8"/>
          <p:cNvSpPr/>
          <p:nvPr/>
        </p:nvSpPr>
        <p:spPr>
          <a:xfrm>
            <a:off x="932688" y="4507991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4416551"/>
            <a:ext cx="4800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Learner can greet people politely, thank others, apologize, and respond yes/no in a friendly first encounter.</a:t>
            </a:r>
          </a:p>
        </p:txBody>
      </p:sp>
      <p:sp>
        <p:nvSpPr>
          <p:cNvPr id="11" name="Oval 10"/>
          <p:cNvSpPr/>
          <p:nvPr/>
        </p:nvSpPr>
        <p:spPr>
          <a:xfrm>
            <a:off x="932688" y="4818887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4727447"/>
            <a:ext cx="4800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Deliver a 2-line greeting exchange with the correct polite ending.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669280"/>
            <a:ext cx="10058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Immersion Thai with Nine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51215" y="3977640"/>
            <a:ext cx="3840480" cy="2880360"/>
          </a:xfrm>
          <a:prstGeom prst="rect">
            <a:avLst/>
          </a:prstGeom>
          <a:solidFill>
            <a:srgbClr val="DB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10058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Lesson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What you will learn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32004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58191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" y="183794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Learner can greet people politely, thank others, apologize, and respond yes/no in a friendly first encounter.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51960" y="1417320"/>
            <a:ext cx="32004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71416" y="158191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71416" y="183794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Learner can recycle recent vocabulary while using basic affirmation and negation in short controlled output.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063240"/>
            <a:ext cx="32004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0976" y="322783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" y="348386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Deliver a 2-line greeting exchange with the correct polite ending.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51960" y="3063240"/>
            <a:ext cx="32004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71416" y="322783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71416" y="348386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Catch greetings, thanks, apologies, and polite particles in slow speech.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51215" y="3977640"/>
            <a:ext cx="3840480" cy="2880360"/>
          </a:xfrm>
          <a:prstGeom prst="rect">
            <a:avLst/>
          </a:prstGeom>
          <a:solidFill>
            <a:srgbClr val="DB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10058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Say hello the Thai way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502920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35608"/>
            <a:ext cx="45720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203704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hello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502920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3282696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3191256"/>
            <a:ext cx="45720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สวัสดีครับ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 khráp)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959352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hello (male speaker)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837176"/>
            <a:ext cx="502920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5038344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946904"/>
            <a:ext cx="45720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สวัสดีค่ะ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 khâ)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571500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hello (female speaker)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434840"/>
            <a:ext cx="10058400" cy="1636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4581144"/>
            <a:ext cx="9692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Practice</a:t>
            </a:r>
          </a:p>
        </p:txBody>
      </p:sp>
      <p:sp>
        <p:nvSpPr>
          <p:cNvPr id="20" name="Oval 19"/>
          <p:cNvSpPr/>
          <p:nvPr/>
        </p:nvSpPr>
        <p:spPr>
          <a:xfrm>
            <a:off x="932688" y="4965192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78992" y="4873752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Listen and repeat three times: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 khráp)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 khâ)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</a:t>
            </a:r>
          </a:p>
        </p:txBody>
      </p:sp>
      <p:sp>
        <p:nvSpPr>
          <p:cNvPr id="22" name="Oval 21"/>
          <p:cNvSpPr/>
          <p:nvPr/>
        </p:nvSpPr>
        <p:spPr>
          <a:xfrm>
            <a:off x="932688" y="5276088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8992" y="5184648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Your turn: I will point to a male or female role. Say the correct full greeting aloud before I show the answer.</a:t>
            </a:r>
          </a:p>
        </p:txBody>
      </p:sp>
      <p:sp>
        <p:nvSpPr>
          <p:cNvPr id="24" name="Oval 23"/>
          <p:cNvSpPr/>
          <p:nvPr/>
        </p:nvSpPr>
        <p:spPr>
          <a:xfrm>
            <a:off x="932688" y="5586984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8992" y="5495544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Substitution drill: replace the ending — say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with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(khráp)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now with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51215" y="3977640"/>
            <a:ext cx="3840480" cy="2880360"/>
          </a:xfrm>
          <a:prstGeom prst="rect">
            <a:avLst/>
          </a:prstGeom>
          <a:solidFill>
            <a:srgbClr val="DB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10058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Thank, apologise, and soften the moment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502920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35608"/>
            <a:ext cx="45720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203704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thank you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502920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3282696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3191256"/>
            <a:ext cx="45720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ขอโทษ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(khǎaw-thôot)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959352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excuse me / sorry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837176"/>
            <a:ext cx="502920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5038344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946904"/>
            <a:ext cx="45720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ไม่เป็นไร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(mâi bpen rai)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571500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it is okay / no problem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434840"/>
            <a:ext cx="10058400" cy="1636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4581144"/>
            <a:ext cx="9692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Practice</a:t>
            </a:r>
          </a:p>
        </p:txBody>
      </p:sp>
      <p:sp>
        <p:nvSpPr>
          <p:cNvPr id="20" name="Oval 19"/>
          <p:cNvSpPr/>
          <p:nvPr/>
        </p:nvSpPr>
        <p:spPr>
          <a:xfrm>
            <a:off x="932688" y="4965192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78992" y="4873752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Discrimination drill: I describe a situation. Choose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or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ขอโทษ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(khǎaw-thôot)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— which one fits? Say it aloud.</a:t>
            </a:r>
          </a:p>
        </p:txBody>
      </p:sp>
      <p:sp>
        <p:nvSpPr>
          <p:cNvPr id="22" name="Oval 21"/>
          <p:cNvSpPr/>
          <p:nvPr/>
        </p:nvSpPr>
        <p:spPr>
          <a:xfrm>
            <a:off x="932688" y="5276088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8992" y="5184648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Response-building drill: I say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ขอโทษ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(khǎaw-thôot)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(khráp)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 Your turn — what do you say back? Pause and answer before I show it.</a:t>
            </a:r>
          </a:p>
        </p:txBody>
      </p:sp>
      <p:sp>
        <p:nvSpPr>
          <p:cNvPr id="24" name="Oval 23"/>
          <p:cNvSpPr/>
          <p:nvPr/>
        </p:nvSpPr>
        <p:spPr>
          <a:xfrm>
            <a:off x="932688" y="5586984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8992" y="5495544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Substitution drill: say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with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(khráp)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now with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 Now say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ขอโทษ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(khǎaw-thôot)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with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(khráp)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now with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51215" y="3977640"/>
            <a:ext cx="3840480" cy="2880360"/>
          </a:xfrm>
          <a:prstGeom prst="rect">
            <a:avLst/>
          </a:prstGeom>
          <a:solidFill>
            <a:srgbClr val="DB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10058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Pick the right polite ending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502920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35608"/>
            <a:ext cx="45720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(khráp)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203704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male polite ending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502920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3282696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3191256"/>
            <a:ext cx="45720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959352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female statement ending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837176"/>
            <a:ext cx="502920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5038344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946904"/>
            <a:ext cx="45720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คะ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(khá)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571500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female question ending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434840"/>
            <a:ext cx="10058400" cy="1636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4581144"/>
            <a:ext cx="9692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Practice</a:t>
            </a:r>
          </a:p>
        </p:txBody>
      </p:sp>
      <p:sp>
        <p:nvSpPr>
          <p:cNvPr id="20" name="Oval 19"/>
          <p:cNvSpPr/>
          <p:nvPr/>
        </p:nvSpPr>
        <p:spPr>
          <a:xfrm>
            <a:off x="932688" y="4965192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78992" y="4873752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Substitution drill: I say a bare phrase. You add the correct polite ending.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— your turn.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— your turn.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ขอโทษ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(khǎaw-thôot)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— your turn.</a:t>
            </a:r>
          </a:p>
        </p:txBody>
      </p:sp>
      <p:sp>
        <p:nvSpPr>
          <p:cNvPr id="22" name="Oval 21"/>
          <p:cNvSpPr/>
          <p:nvPr/>
        </p:nvSpPr>
        <p:spPr>
          <a:xfrm>
            <a:off x="932688" y="5276088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8992" y="5184648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Discrimination drill: I say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or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(khá)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 Is the speaker making a statement or asking a question? Choose before I tell you.</a:t>
            </a:r>
          </a:p>
        </p:txBody>
      </p:sp>
      <p:sp>
        <p:nvSpPr>
          <p:cNvPr id="24" name="Oval 23"/>
          <p:cNvSpPr/>
          <p:nvPr/>
        </p:nvSpPr>
        <p:spPr>
          <a:xfrm>
            <a:off x="932688" y="5586984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8992" y="5495544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Substitution drill round 2: now try it with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ไม่เป็นไร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(mâi bpen rai)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and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ใช่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(châi)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 Add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(khráp)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or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51215" y="3977640"/>
            <a:ext cx="3840480" cy="2880360"/>
          </a:xfrm>
          <a:prstGeom prst="rect">
            <a:avLst/>
          </a:prstGeom>
          <a:solidFill>
            <a:srgbClr val="DB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10058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Answer yes, no, and no problem naturally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502920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35608"/>
            <a:ext cx="45720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ใช่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(châi)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203704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yes / that is right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502920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3282696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3191256"/>
            <a:ext cx="45720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ไม่ใช่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(mâi châi)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959352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no / not right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837176"/>
            <a:ext cx="502920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5038344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946904"/>
            <a:ext cx="45720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ไม่เป็นไร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(mâi bpen rai)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571500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it is okay / no problem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434840"/>
            <a:ext cx="10058400" cy="1636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4581144"/>
            <a:ext cx="9692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Practice</a:t>
            </a:r>
          </a:p>
        </p:txBody>
      </p:sp>
      <p:sp>
        <p:nvSpPr>
          <p:cNvPr id="20" name="Oval 19"/>
          <p:cNvSpPr/>
          <p:nvPr/>
        </p:nvSpPr>
        <p:spPr>
          <a:xfrm>
            <a:off x="932688" y="4965192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78992" y="4873752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Pause-and-produce: I ask a yes/no question. Say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ใช่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(châi)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or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ไม่ใช่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(mâi châi)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before I show the answer.</a:t>
            </a:r>
          </a:p>
        </p:txBody>
      </p:sp>
      <p:sp>
        <p:nvSpPr>
          <p:cNvPr id="22" name="Oval 21"/>
          <p:cNvSpPr/>
          <p:nvPr/>
        </p:nvSpPr>
        <p:spPr>
          <a:xfrm>
            <a:off x="932688" y="5276088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8992" y="5184648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Response-building: I say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ขอโทษ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(khǎaw-thôot)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(khráp)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 What do you say back? Then I say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(khàawp-khun)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 What do you say back?</a:t>
            </a:r>
          </a:p>
        </p:txBody>
      </p:sp>
      <p:sp>
        <p:nvSpPr>
          <p:cNvPr id="24" name="Oval 23"/>
          <p:cNvSpPr/>
          <p:nvPr/>
        </p:nvSpPr>
        <p:spPr>
          <a:xfrm>
            <a:off x="932688" y="5586984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8992" y="5495544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Substitution drill: say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ใช่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(châi)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with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(khráp)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now with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 Say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ไม่ใช่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(mâi châi)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with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(khráp)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now with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51215" y="3977640"/>
            <a:ext cx="3840480" cy="2880360"/>
          </a:xfrm>
          <a:prstGeom prst="rect">
            <a:avLst/>
          </a:prstGeom>
          <a:solidFill>
            <a:srgbClr val="DB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10058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Pronunciation: hearing Thai tones for the first time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502920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35608"/>
            <a:ext cx="45720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(khráp)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203704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high tone — voice rises sharply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502920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3282696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3191256"/>
            <a:ext cx="45720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959352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falling tone — voice starts high and drops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837176"/>
            <a:ext cx="502920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5038344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946904"/>
            <a:ext cx="45720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571500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low tone on khàawp — voice stays low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434840"/>
            <a:ext cx="10058400" cy="12893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4581144"/>
            <a:ext cx="9692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Practice</a:t>
            </a:r>
          </a:p>
        </p:txBody>
      </p:sp>
      <p:sp>
        <p:nvSpPr>
          <p:cNvPr id="20" name="Oval 19"/>
          <p:cNvSpPr/>
          <p:nvPr/>
        </p:nvSpPr>
        <p:spPr>
          <a:xfrm>
            <a:off x="932688" y="4965192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78992" y="4873752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Tone echo: I say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(khráp)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khráp. Repeat it. Now I say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khâ. Repeat it. Can you feel the difference?</a:t>
            </a:r>
          </a:p>
        </p:txBody>
      </p:sp>
      <p:sp>
        <p:nvSpPr>
          <p:cNvPr id="22" name="Oval 21"/>
          <p:cNvSpPr/>
          <p:nvPr/>
        </p:nvSpPr>
        <p:spPr>
          <a:xfrm>
            <a:off x="932688" y="5276088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8992" y="5184648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Minimal pair choice: I say two words. Which one is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(khráp)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and which is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? Point to the answer.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51215" y="3977640"/>
            <a:ext cx="3840480" cy="2880360"/>
          </a:xfrm>
          <a:prstGeom prst="rect">
            <a:avLst/>
          </a:prstGeom>
          <a:solidFill>
            <a:srgbClr val="DB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10058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Roleplay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Roleplay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09728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You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65960" y="1069848"/>
            <a:ext cx="83667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ขอโทษครับ สวัสดีครับ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(khǎaw-thôot khráp sà-wàt-dii khráp)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65960" y="1353312"/>
            <a:ext cx="8366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Excuse me, hello.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87452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Staff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65960" y="1847088"/>
            <a:ext cx="83667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 khâ)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2130552"/>
            <a:ext cx="8366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Hello.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65176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You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2624328"/>
            <a:ext cx="83667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นี่ใช่ไหมครับ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(nîi châi mái khráp)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65960" y="2907792"/>
            <a:ext cx="8366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Is this right?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42900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Staff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3401568"/>
            <a:ext cx="83667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ใช่ค่ะ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(châi khâ)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65960" y="3685032"/>
            <a:ext cx="8366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Yes.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20624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You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65960" y="4178808"/>
            <a:ext cx="83667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 khráp)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65960" y="4462272"/>
            <a:ext cx="8366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Thank you.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98348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Staff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65960" y="4956048"/>
            <a:ext cx="83667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ไม่เป็นไรค่ะ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(mâi bpen rai khâ)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65960" y="5239512"/>
            <a:ext cx="8366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No problem.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51215" y="3977640"/>
            <a:ext cx="3840480" cy="2880360"/>
          </a:xfrm>
          <a:prstGeom prst="rect">
            <a:avLst/>
          </a:prstGeom>
          <a:solidFill>
            <a:srgbClr val="DB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10058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Recap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960120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563624"/>
            <a:ext cx="92354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What you can now do</a:t>
            </a:r>
          </a:p>
        </p:txBody>
      </p:sp>
      <p:sp>
        <p:nvSpPr>
          <p:cNvPr id="8" name="Oval 7"/>
          <p:cNvSpPr/>
          <p:nvPr/>
        </p:nvSpPr>
        <p:spPr>
          <a:xfrm>
            <a:off x="932688" y="1947672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1856232"/>
            <a:ext cx="9098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Look away and try: how do you say hello politely as a male speaker? Say it before looking back.</a:t>
            </a:r>
          </a:p>
        </p:txBody>
      </p:sp>
      <p:sp>
        <p:nvSpPr>
          <p:cNvPr id="10" name="Oval 9"/>
          <p:cNvSpPr/>
          <p:nvPr/>
        </p:nvSpPr>
        <p:spPr>
          <a:xfrm>
            <a:off x="932688" y="2258568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992" y="2167128"/>
            <a:ext cx="9098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What is the difference between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and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ขอโทษ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(khǎaw-thôot)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? One closes warmly, one repairs politely.</a:t>
            </a:r>
          </a:p>
        </p:txBody>
      </p:sp>
      <p:sp>
        <p:nvSpPr>
          <p:cNvPr id="12" name="Oval 11"/>
          <p:cNvSpPr/>
          <p:nvPr/>
        </p:nvSpPr>
        <p:spPr>
          <a:xfrm>
            <a:off x="932688" y="2569464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8992" y="2478024"/>
            <a:ext cx="9098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Someone says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ขอโทษ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(khǎaw-thôot)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to you. What do you say back?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ไม่เป็นไร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(mâi bpen rai)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</a:t>
            </a:r>
          </a:p>
        </p:txBody>
      </p:sp>
      <p:sp>
        <p:nvSpPr>
          <p:cNvPr id="14" name="Oval 13"/>
          <p:cNvSpPr/>
          <p:nvPr/>
        </p:nvSpPr>
        <p:spPr>
          <a:xfrm>
            <a:off x="932688" y="2880360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78992" y="2788920"/>
            <a:ext cx="9098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What do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(khráp)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and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do? They are the polite endings that tell the listener how your line should land.</a:t>
            </a:r>
          </a:p>
        </p:txBody>
      </p:sp>
      <p:sp>
        <p:nvSpPr>
          <p:cNvPr id="16" name="Oval 15"/>
          <p:cNvSpPr/>
          <p:nvPr/>
        </p:nvSpPr>
        <p:spPr>
          <a:xfrm>
            <a:off x="932688" y="3191256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78992" y="3099816"/>
            <a:ext cx="9098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Which two words answer the idea — yes or no?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ใช่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(châi)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and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ไม่ใช่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(mâi châi)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160520"/>
            <a:ext cx="9601200" cy="12893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4306824"/>
            <a:ext cx="92354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lang="en-US" altLang="en-US">
                <a:solidFill>
                  <a:srgbClr val="7A8F54"/>
                </a:solidFill>
                <a:latin typeface="Sarabun"/>
                <a:ea typeface="Sarabun"/>
                <a:cs typeface="Sarabun"/>
              </a:rPr>
              <a:t>Remember</a:t>
            </a:r>
          </a:p>
        </p:txBody>
      </p:sp>
      <p:sp>
        <p:nvSpPr>
          <p:cNvPr id="20" name="Oval 19"/>
          <p:cNvSpPr/>
          <p:nvPr/>
        </p:nvSpPr>
        <p:spPr>
          <a:xfrm>
            <a:off x="932688" y="4690872"/>
            <a:ext cx="82296" cy="82296"/>
          </a:xfrm>
          <a:prstGeom prst="ellipse">
            <a:avLst/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78992" y="4599432"/>
            <a:ext cx="9098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Which two words answer the idea — yes or no?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ใช่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(châi)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and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ไม่ใช่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(mâi châi)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51215" y="3977640"/>
            <a:ext cx="3840480" cy="2880360"/>
          </a:xfrm>
          <a:prstGeom prst="rect">
            <a:avLst/>
          </a:prstGeom>
          <a:solidFill>
            <a:srgbClr val="DB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10058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Closing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Closing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9601200" cy="12893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746504"/>
            <a:ext cx="92354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Next steps</a:t>
            </a:r>
          </a:p>
        </p:txBody>
      </p:sp>
      <p:sp>
        <p:nvSpPr>
          <p:cNvPr id="8" name="Oval 7"/>
          <p:cNvSpPr/>
          <p:nvPr/>
        </p:nvSpPr>
        <p:spPr>
          <a:xfrm>
            <a:off x="932688" y="2130552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2039112"/>
            <a:ext cx="9098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By the end, the learner can open, repair, thank, and close a tiny first-contact exchange politely.</a:t>
            </a:r>
          </a:p>
        </p:txBody>
      </p:sp>
      <p:sp>
        <p:nvSpPr>
          <p:cNvPr id="10" name="Oval 9"/>
          <p:cNvSpPr/>
          <p:nvPr/>
        </p:nvSpPr>
        <p:spPr>
          <a:xfrm>
            <a:off x="932688" y="2441448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992" y="2350008"/>
            <a:ext cx="9098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Next: First Contact and Courtesy continues.</a:t>
            </a:r>
          </a:p>
        </p:txBody>
      </p:sp>
    </p:spTree>
  </p:cSld>
  <p:clrMapOvr>
    <a:masterClrMapping/>
  </p:clrMapOvr>
</p:sld>
</file>

<file path=ppt/theme/theme1.xml><?xml version="1.0" encoding="utf-8"?>
<ns0:theme xmlns:ns0="http://schemas.openxmlformats.org/drawingml/2006/main" name="Office Theme">
  <ns0:themeElements>
    <ns0:clrScheme name="Office">
      <ns0:dk1>
        <ns0:sysClr val="windowText" lastClr="000000"/>
      </ns0:dk1>
      <ns0:lt1>
        <ns0:sysClr val="window" lastClr="FFFFFF"/>
      </ns0:lt1>
      <ns0:dk2>
        <ns0:srgbClr val="1F497D"/>
      </ns0:dk2>
      <ns0:lt2>
        <ns0:srgbClr val="EEECE1"/>
      </ns0:lt2>
      <ns0:accent1>
        <ns0:srgbClr val="4F81BD"/>
      </ns0:accent1>
      <ns0:accent2>
        <ns0:srgbClr val="C0504D"/>
      </ns0:accent2>
      <ns0:accent3>
        <ns0:srgbClr val="9BBB59"/>
      </ns0:accent3>
      <ns0:accent4>
        <ns0:srgbClr val="8064A2"/>
      </ns0:accent4>
      <ns0:accent5>
        <ns0:srgbClr val="4BACC6"/>
      </ns0:accent5>
      <ns0:accent6>
        <ns0:srgbClr val="F79646"/>
      </ns0:accent6>
      <ns0:hlink>
        <ns0:srgbClr val="0000FF"/>
      </ns0:hlink>
      <ns0:folHlink>
        <ns0:srgbClr val="800080"/>
      </ns0:folHlink>
    </ns0:clrScheme>
    <ns0:fontScheme name="Office">
      <ns0:majorFont>
        <ns0:latin typeface="Sarabun"/>
        <ns0:ea typeface="Sarabun"/>
        <ns0:cs typeface="Sarabun"/>
        <ns0:font script="Jpan" typeface="ＭＳ Ｐゴシック"/>
        <ns0:font script="Hang" typeface="맑은 고딕"/>
        <ns0:font script="Hans" typeface="宋体"/>
        <ns0:font script="Hant" typeface="新細明體"/>
        <ns0:font script="Arab" typeface="Times New Roman"/>
        <ns0:font script="Hebr" typeface="Times New Roman"/>
        <ns0:font script="Thai" typeface="Sarabun"/>
        <ns0:font script="Ethi" typeface="Nyala"/>
        <ns0:font script="Beng" typeface="Vrinda"/>
        <ns0:font script="Gujr" typeface="Shruti"/>
        <ns0:font script="Khmr" typeface="MoolBoran"/>
        <ns0:font script="Knda" typeface="Tunga"/>
        <ns0:font script="Guru" typeface="Raavi"/>
        <ns0:font script="Cans" typeface="Euphemia"/>
        <ns0:font script="Cher" typeface="Plantagenet Cherokee"/>
        <ns0:font script="Yiii" typeface="Microsoft Yi Baiti"/>
        <ns0:font script="Tibt" typeface="Microsoft Himalaya"/>
        <ns0:font script="Thaa" typeface="MV Boli"/>
        <ns0:font script="Deva" typeface="Mangal"/>
        <ns0:font script="Telu" typeface="Gautami"/>
        <ns0:font script="Taml" typeface="Latha"/>
        <ns0:font script="Syrc" typeface="Estrangelo Edessa"/>
        <ns0:font script="Orya" typeface="Kalinga"/>
        <ns0:font script="Mlym" typeface="Kartika"/>
        <ns0:font script="Laoo" typeface="DokChampa"/>
        <ns0:font script="Sinh" typeface="Iskoola Pota"/>
        <ns0:font script="Mong" typeface="Mongolian Baiti"/>
        <ns0:font script="Viet" typeface="Times New Roman"/>
        <ns0:font script="Uigh" typeface="Microsoft Uighur"/>
        <ns0:font script="Geor" typeface="Sylfaen"/>
      </ns0:majorFont>
      <ns0:minorFont>
        <ns0:latin typeface="Sarabun"/>
        <ns0:ea typeface="Sarabun"/>
        <ns0:cs typeface="Sarabun"/>
        <ns0:font script="Jpan" typeface="ＭＳ Ｐゴシック"/>
        <ns0:font script="Hang" typeface="맑은 고딕"/>
        <ns0:font script="Hans" typeface="宋体"/>
        <ns0:font script="Hant" typeface="新細明體"/>
        <ns0:font script="Arab" typeface="Arial"/>
        <ns0:font script="Hebr" typeface="Arial"/>
        <ns0:font script="Thai" typeface="Sarabun"/>
        <ns0:font script="Ethi" typeface="Nyala"/>
        <ns0:font script="Beng" typeface="Vrinda"/>
        <ns0:font script="Gujr" typeface="Shruti"/>
        <ns0:font script="Khmr" typeface="DaunPenh"/>
        <ns0:font script="Knda" typeface="Tunga"/>
        <ns0:font script="Guru" typeface="Raavi"/>
        <ns0:font script="Cans" typeface="Euphemia"/>
        <ns0:font script="Cher" typeface="Plantagenet Cherokee"/>
        <ns0:font script="Yiii" typeface="Microsoft Yi Baiti"/>
        <ns0:font script="Tibt" typeface="Microsoft Himalaya"/>
        <ns0:font script="Thaa" typeface="MV Boli"/>
        <ns0:font script="Deva" typeface="Mangal"/>
        <ns0:font script="Telu" typeface="Gautami"/>
        <ns0:font script="Taml" typeface="Latha"/>
        <ns0:font script="Syrc" typeface="Estrangelo Edessa"/>
        <ns0:font script="Orya" typeface="Kalinga"/>
        <ns0:font script="Mlym" typeface="Kartika"/>
        <ns0:font script="Laoo" typeface="DokChampa"/>
        <ns0:font script="Sinh" typeface="Iskoola Pota"/>
        <ns0:font script="Mong" typeface="Mongolian Baiti"/>
        <ns0:font script="Viet" typeface="Arial"/>
        <ns0:font script="Uigh" typeface="Microsoft Uighur"/>
        <ns0:font script="Geor" typeface="Sylfaen"/>
      </ns0:minorFont>
    </ns0:fontScheme>
    <ns0:fmtScheme name="Office">
      <ns0:fillStyleLst>
        <ns0:solidFill>
          <ns0:schemeClr val="phClr"/>
        </ns0:solidFill>
        <ns0:gradFill rotWithShape="1">
          <ns0:gsLst>
            <ns0:gs pos="0">
              <ns0:schemeClr val="phClr">
                <ns0:tint val="50000"/>
                <ns0:satMod val="300000"/>
              </ns0:schemeClr>
            </ns0:gs>
            <ns0:gs pos="35000">
              <ns0:schemeClr val="phClr">
                <ns0:tint val="37000"/>
                <ns0:satMod val="300000"/>
              </ns0:schemeClr>
            </ns0:gs>
            <ns0:gs pos="100000">
              <ns0:schemeClr val="phClr">
                <ns0:tint val="15000"/>
                <ns0:satMod val="350000"/>
              </ns0:schemeClr>
            </ns0:gs>
          </ns0:gsLst>
          <ns0:lin ang="16200000" scaled="1"/>
        </ns0:gradFill>
        <ns0:gradFill rotWithShape="1">
          <ns0:gsLst>
            <ns0:gs pos="0">
              <ns0:schemeClr val="phClr">
                <ns0:tint val="100000"/>
                <ns0:shade val="100000"/>
                <ns0:satMod val="130000"/>
              </ns0:schemeClr>
            </ns0:gs>
            <ns0:gs pos="100000">
              <ns0:schemeClr val="phClr">
                <ns0:tint val="50000"/>
                <ns0:shade val="100000"/>
                <ns0:satMod val="350000"/>
              </ns0:schemeClr>
            </ns0:gs>
          </ns0:gsLst>
          <ns0:lin ang="16200000" scaled="0"/>
        </ns0:gradFill>
      </ns0:fillStyleLst>
      <ns0:lnStyleLst>
        <ns0:ln w="9525" cap="flat" cmpd="sng" algn="ctr">
          <ns0:solidFill>
            <ns0:schemeClr val="phClr">
              <ns0:shade val="95000"/>
              <ns0:satMod val="105000"/>
            </ns0:schemeClr>
          </ns0:solidFill>
          <ns0:prstDash val="solid"/>
        </ns0:ln>
        <ns0:ln w="25400" cap="flat" cmpd="sng" algn="ctr">
          <ns0:solidFill>
            <ns0:schemeClr val="phClr"/>
          </ns0:solidFill>
          <ns0:prstDash val="solid"/>
        </ns0:ln>
        <ns0:ln w="38100" cap="flat" cmpd="sng" algn="ctr">
          <ns0:solidFill>
            <ns0:schemeClr val="phClr"/>
          </ns0:solidFill>
          <ns0:prstDash val="solid"/>
        </ns0:ln>
      </ns0:lnStyleLst>
      <ns0:effectStyleLst>
        <ns0:effectStyle>
          <ns0:effectLst>
            <ns0:outerShdw blurRad="40000" dist="20000" dir="5400000" rotWithShape="0">
              <ns0:srgbClr val="000000">
                <ns0:alpha val="38000"/>
              </ns0:srgbClr>
            </ns0:outerShdw>
          </ns0:effectLst>
        </ns0:effectStyle>
        <ns0:effectStyle>
          <ns0:effectLst>
            <ns0:outerShdw blurRad="40000" dist="23000" dir="5400000" rotWithShape="0">
              <ns0:srgbClr val="000000">
                <ns0:alpha val="35000"/>
              </ns0:srgbClr>
            </ns0:outerShdw>
          </ns0:effectLst>
        </ns0:effectStyle>
        <ns0:effectStyle>
          <ns0:effectLst>
            <ns0:outerShdw blurRad="40000" dist="23000" dir="5400000" rotWithShape="0">
              <ns0:srgbClr val="000000">
                <ns0:alpha val="35000"/>
              </ns0:srgbClr>
            </ns0:outerShdw>
          </ns0:effectLst>
          <ns0:scene3d>
            <ns0:camera prst="orthographicFront">
              <ns0:rot lat="0" lon="0" rev="0"/>
            </ns0:camera>
            <ns0:lightRig rig="threePt" dir="t">
              <ns0:rot lat="0" lon="0" rev="1200000"/>
            </ns0:lightRig>
          </ns0:scene3d>
          <ns0:sp3d>
            <ns0:bevelT w="63500" h="25400"/>
          </ns0:sp3d>
        </ns0:effectStyle>
      </ns0:effectStyleLst>
      <ns0:bgFillStyleLst>
        <ns0:solidFill>
          <ns0:schemeClr val="phClr"/>
        </ns0:solidFill>
        <ns0:gradFill rotWithShape="1">
          <ns0:gsLst>
            <ns0:gs pos="0">
              <ns0:schemeClr val="phClr">
                <ns0:tint val="40000"/>
                <ns0:satMod val="350000"/>
              </ns0:schemeClr>
            </ns0:gs>
            <ns0:gs pos="40000">
              <ns0:schemeClr val="phClr">
                <ns0:tint val="45000"/>
                <ns0:shade val="99000"/>
                <ns0:satMod val="350000"/>
              </ns0:schemeClr>
            </ns0:gs>
            <ns0:gs pos="100000">
              <ns0:schemeClr val="phClr">
                <ns0:shade val="20000"/>
                <ns0:satMod val="255000"/>
              </ns0:schemeClr>
            </ns0:gs>
          </ns0:gsLst>
          <ns0:path path="circle">
            <ns0:fillToRect l="50000" t="-80000" r="50000" b="180000"/>
          </ns0:path>
        </ns0:gradFill>
        <ns0:gradFill rotWithShape="1">
          <ns0:gsLst>
            <ns0:gs pos="0">
              <ns0:schemeClr val="phClr">
                <ns0:tint val="80000"/>
                <ns0:satMod val="300000"/>
              </ns0:schemeClr>
            </ns0:gs>
            <ns0:gs pos="100000">
              <ns0:schemeClr val="phClr">
                <ns0:shade val="30000"/>
                <ns0:satMod val="200000"/>
              </ns0:schemeClr>
            </ns0:gs>
          </ns0:gsLst>
          <ns0:path path="circle">
            <ns0:fillToRect l="50000" t="50000" r="50000" b="50000"/>
          </ns0:path>
        </ns0:gradFill>
      </ns0:bgFillStyleLst>
    </ns0:fmtScheme>
  </ns0:themeElements>
  <ns0:objectDefaults>
    <ns0:spDef>
      <ns0:spPr/>
      <ns0:bodyPr/>
      <ns0:lstStyle/>
      <ns0:style>
        <ns0:lnRef idx="1">
          <ns0:schemeClr val="accent1"/>
        </ns0:lnRef>
        <ns0:fillRef idx="3">
          <ns0:schemeClr val="accent1"/>
        </ns0:fillRef>
        <ns0:effectRef idx="2">
          <ns0:schemeClr val="accent1"/>
        </ns0:effectRef>
        <ns0:fontRef idx="minor">
          <ns0:schemeClr val="lt1"/>
        </ns0:fontRef>
      </ns0:style>
    </ns0:spDef>
    <ns0:lnDef>
      <ns0:spPr/>
      <ns0:bodyPr/>
      <ns0:lstStyle/>
      <ns0:style>
        <ns0:lnRef idx="2">
          <ns0:schemeClr val="accent1"/>
        </ns0:lnRef>
        <ns0:fillRef idx="0">
          <ns0:schemeClr val="accent1"/>
        </ns0:fillRef>
        <ns0:effectRef idx="1">
          <ns0:schemeClr val="accent1"/>
        </ns0:effectRef>
        <ns0:fontRef idx="minor">
          <ns0:schemeClr val="tx1"/>
        </ns0:fontRef>
      </ns0:style>
    </ns0:lnDef>
  </ns0:objectDefaults>
  <ns0:extraClrSchemeLst/>
</ns0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